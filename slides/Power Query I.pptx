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nter Bold" charset="1" panose="020B0802030000000004"/>
      <p:regular r:id="rId21"/>
    </p:embeddedFont>
    <p:embeddedFont>
      <p:font typeface="Lato Bold" charset="1" panose="020F0502020204030203"/>
      <p:regular r:id="rId22"/>
    </p:embeddedFont>
    <p:embeddedFont>
      <p:font typeface="Lato" charset="1" panose="020F0502020204030203"/>
      <p:regular r:id="rId23"/>
    </p:embeddedFont>
    <p:embeddedFont>
      <p:font typeface="Liberation Sans Bold" charset="1" panose="020B0704020202020204"/>
      <p:regular r:id="rId24"/>
    </p:embeddedFont>
    <p:embeddedFont>
      <p:font typeface="Liberation Sans" charset="1" panose="020B0604020202020204"/>
      <p:regular r:id="rId25"/>
    </p:embeddedFont>
    <p:embeddedFont>
      <p:font typeface="Roboto Bold" charset="1" panose="02000000000000000000"/>
      <p:regular r:id="rId26"/>
    </p:embeddedFont>
    <p:embeddedFont>
      <p:font typeface="Roboto" charset="1" panose="02000000000000000000"/>
      <p:regular r:id="rId27"/>
    </p:embeddedFont>
    <p:embeddedFont>
      <p:font typeface="Inter" charset="1" panose="020B0502030000000004"/>
      <p:regular r:id="rId28"/>
    </p:embeddedFont>
    <p:embeddedFont>
      <p:font typeface="JetBrains Mono" charset="1" panose="02010509020102050004"/>
      <p:regular r:id="rId29"/>
    </p:embeddedFont>
    <p:embeddedFont>
      <p:font typeface="Inter Bold Italics" charset="1" panose="020B08020300000000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07466" y="4617455"/>
            <a:ext cx="11430000" cy="2026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051320"/>
                </a:solidFill>
                <a:latin typeface="Inter Bold"/>
                <a:ea typeface="Inter Bold"/>
                <a:cs typeface="Inter Bold"/>
                <a:sym typeface="Inter Bold"/>
              </a:rPr>
              <a:t>Introducción a Power Query</a:t>
            </a:r>
          </a:p>
          <a:p>
            <a:pPr algn="ctr" marL="0" indent="0" lvl="0">
              <a:lnSpc>
                <a:spcPts val="5774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410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>
            <a:off x="8191500" y="5619750"/>
            <a:ext cx="1905000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1600" y="769018"/>
            <a:ext cx="15240000" cy="62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9"/>
              </a:lnSpc>
            </a:pPr>
            <a:r>
              <a:rPr lang="en-US" b="true" sz="4399">
                <a:solidFill>
                  <a:srgbClr val="0F1A2B"/>
                </a:solidFill>
                <a:latin typeface="Lato Bold"/>
                <a:ea typeface="Lato Bold"/>
                <a:cs typeface="Lato Bold"/>
                <a:sym typeface="Lato Bold"/>
              </a:rPr>
              <a:t>El cambio de paradigma: manual vs. automatizado</a:t>
            </a:r>
          </a:p>
        </p:txBody>
      </p:sp>
      <p:sp>
        <p:nvSpPr>
          <p:cNvPr name="AutoShape 3" id="3"/>
          <p:cNvSpPr/>
          <p:nvPr/>
        </p:nvSpPr>
        <p:spPr>
          <a:xfrm>
            <a:off x="1371600" y="1333500"/>
            <a:ext cx="1905000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1600" y="3171946"/>
            <a:ext cx="14566974" cy="627500"/>
            <a:chOff x="0" y="0"/>
            <a:chExt cx="165100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510000" cy="711200"/>
            </a:xfrm>
            <a:custGeom>
              <a:avLst/>
              <a:gdLst/>
              <a:ahLst/>
              <a:cxnLst/>
              <a:rect r="r" b="b" t="t" l="l"/>
              <a:pathLst>
                <a:path h="711200" w="16510000">
                  <a:moveTo>
                    <a:pt x="0" y="0"/>
                  </a:moveTo>
                  <a:lnTo>
                    <a:pt x="16510000" y="0"/>
                  </a:lnTo>
                  <a:lnTo>
                    <a:pt x="16510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5100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95707" y="3285687"/>
            <a:ext cx="2465180" cy="40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0"/>
              </a:lnSpc>
            </a:pPr>
            <a:r>
              <a:rPr lang="en-US" b="true" sz="2658">
                <a:solidFill>
                  <a:srgbClr val="0F1A2B"/>
                </a:solidFill>
                <a:latin typeface="Lato Bold"/>
                <a:ea typeface="Lato Bold"/>
                <a:cs typeface="Lato Bold"/>
                <a:sym typeface="Lato Bold"/>
              </a:rPr>
              <a:t>Aspecto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09102" y="3285687"/>
            <a:ext cx="5378575" cy="40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0"/>
              </a:lnSpc>
            </a:pPr>
            <a:r>
              <a:rPr lang="en-US" b="true" sz="2658">
                <a:solidFill>
                  <a:srgbClr val="0F1A2B"/>
                </a:solidFill>
                <a:latin typeface="Lato Bold"/>
                <a:ea typeface="Lato Bold"/>
                <a:cs typeface="Lato Bold"/>
                <a:sym typeface="Lato Bold"/>
              </a:rPr>
              <a:t>Excel tradicional (fórmulas)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35892" y="3285687"/>
            <a:ext cx="5378575" cy="40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0"/>
              </a:lnSpc>
            </a:pPr>
            <a:r>
              <a:rPr lang="en-US" b="true" sz="2658">
                <a:solidFill>
                  <a:srgbClr val="0F1A2B"/>
                </a:solidFill>
                <a:latin typeface="Lato Bold"/>
                <a:ea typeface="Lato Bold"/>
                <a:cs typeface="Lato Bold"/>
                <a:sym typeface="Lato Bold"/>
              </a:rPr>
              <a:t>Power Query (ETL)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371600" y="3799446"/>
            <a:ext cx="14566974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595707" y="3795511"/>
            <a:ext cx="2465180" cy="87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b="true" sz="2658">
                <a:solidFill>
                  <a:srgbClr val="0F1A2B"/>
                </a:solidFill>
                <a:latin typeface="Lato Bold"/>
                <a:ea typeface="Lato Bold"/>
                <a:cs typeface="Lato Bold"/>
                <a:sym typeface="Lato Bold"/>
              </a:rPr>
              <a:t>Transformación de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09102" y="4009016"/>
            <a:ext cx="5378575" cy="43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65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Limitada y frágil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35892" y="4009016"/>
            <a:ext cx="5378575" cy="43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658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Flexible y potente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371600" y="4695875"/>
            <a:ext cx="14566974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595707" y="4686337"/>
            <a:ext cx="2465180" cy="87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b="true" sz="2658">
                <a:solidFill>
                  <a:srgbClr val="0F1A2B"/>
                </a:solidFill>
                <a:latin typeface="Lato Bold"/>
                <a:ea typeface="Lato Bold"/>
                <a:cs typeface="Lato Bold"/>
                <a:sym typeface="Lato Bold"/>
              </a:rPr>
              <a:t>Requisito de código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09102" y="4905445"/>
            <a:ext cx="5378575" cy="43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65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Fórmulas complejas (anidadas)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35892" y="4905445"/>
            <a:ext cx="5378575" cy="43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658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100% visual (código opcional)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371600" y="5592304"/>
            <a:ext cx="14566974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595707" y="5801875"/>
            <a:ext cx="2465180" cy="43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b="true" sz="2658">
                <a:solidFill>
                  <a:srgbClr val="0F1A2B"/>
                </a:solidFill>
                <a:latin typeface="Lato Bold"/>
                <a:ea typeface="Lato Bold"/>
                <a:cs typeface="Lato Bold"/>
                <a:sym typeface="Lato Bold"/>
              </a:rPr>
              <a:t>Actualización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09102" y="5582766"/>
            <a:ext cx="5378575" cy="87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65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Requiere copiar y pegar manualmente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35892" y="5801875"/>
            <a:ext cx="5378575" cy="43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658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Actualización con un solo clic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371600" y="6488733"/>
            <a:ext cx="14566974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595707" y="6479196"/>
            <a:ext cx="2465180" cy="87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b="true" sz="2658">
                <a:solidFill>
                  <a:srgbClr val="0F1A2B"/>
                </a:solidFill>
                <a:latin typeface="Lato Bold"/>
                <a:ea typeface="Lato Bold"/>
                <a:cs typeface="Lato Bold"/>
                <a:sym typeface="Lato Bold"/>
              </a:rPr>
              <a:t>Tareas repetitivas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09102" y="6698304"/>
            <a:ext cx="5378575" cy="43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65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Alto riesgo de error humano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35892" y="6698304"/>
            <a:ext cx="5378575" cy="43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658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Automatización total y escalable</a:t>
            </a:r>
          </a:p>
        </p:txBody>
      </p:sp>
      <p:sp>
        <p:nvSpPr>
          <p:cNvPr name="AutoShape 26" id="26"/>
          <p:cNvSpPr/>
          <p:nvPr/>
        </p:nvSpPr>
        <p:spPr>
          <a:xfrm>
            <a:off x="1371600" y="7385163"/>
            <a:ext cx="14566974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4284995" y="3171946"/>
            <a:ext cx="0" cy="4213217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0111784" y="3171946"/>
            <a:ext cx="0" cy="4213217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1600" y="749968"/>
            <a:ext cx="15240000" cy="64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9"/>
              </a:lnSpc>
            </a:pPr>
            <a:r>
              <a:rPr lang="en-US" b="true" sz="4399">
                <a:solidFill>
                  <a:srgbClr val="1E2D48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El pipeline ETL: ¿qué es realmente Power Query?</a:t>
            </a:r>
          </a:p>
        </p:txBody>
      </p:sp>
      <p:sp>
        <p:nvSpPr>
          <p:cNvPr name="AutoShape 3" id="3"/>
          <p:cNvSpPr/>
          <p:nvPr/>
        </p:nvSpPr>
        <p:spPr>
          <a:xfrm>
            <a:off x="1371600" y="1333500"/>
            <a:ext cx="1905000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371600" y="1562100"/>
            <a:ext cx="1143000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75569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Power Query sigue un flujo de tres pasos para automatizar el manejo de datos: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286000" y="3619500"/>
            <a:ext cx="4191000" cy="3238500"/>
            <a:chOff x="0" y="0"/>
            <a:chExt cx="5588000" cy="431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8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5588000">
                  <a:moveTo>
                    <a:pt x="431800" y="0"/>
                  </a:moveTo>
                  <a:lnTo>
                    <a:pt x="5156200" y="0"/>
                  </a:lnTo>
                  <a:cubicBezTo>
                    <a:pt x="5394677" y="0"/>
                    <a:pt x="5588000" y="193323"/>
                    <a:pt x="5588000" y="431800"/>
                  </a:cubicBezTo>
                  <a:lnTo>
                    <a:pt x="5588000" y="3886200"/>
                  </a:lnTo>
                  <a:cubicBezTo>
                    <a:pt x="5588000" y="4124677"/>
                    <a:pt x="5394677" y="4318000"/>
                    <a:pt x="51562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1F5F9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88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14800" y="3352800"/>
            <a:ext cx="533400" cy="590550"/>
            <a:chOff x="0" y="0"/>
            <a:chExt cx="711200" cy="787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200" cy="787400"/>
            </a:xfrm>
            <a:custGeom>
              <a:avLst/>
              <a:gdLst/>
              <a:ahLst/>
              <a:cxnLst/>
              <a:rect r="r" b="b" t="t" l="l"/>
              <a:pathLst>
                <a:path h="787400" w="711200">
                  <a:moveTo>
                    <a:pt x="355600" y="0"/>
                  </a:moveTo>
                  <a:cubicBezTo>
                    <a:pt x="159208" y="0"/>
                    <a:pt x="0" y="176266"/>
                    <a:pt x="0" y="393700"/>
                  </a:cubicBezTo>
                  <a:cubicBezTo>
                    <a:pt x="0" y="611134"/>
                    <a:pt x="159208" y="787400"/>
                    <a:pt x="355600" y="787400"/>
                  </a:cubicBezTo>
                  <a:cubicBezTo>
                    <a:pt x="551992" y="787400"/>
                    <a:pt x="711200" y="611134"/>
                    <a:pt x="711200" y="393700"/>
                  </a:cubicBezTo>
                  <a:cubicBezTo>
                    <a:pt x="711200" y="176266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1200" cy="844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Liberation Sans"/>
                  <a:ea typeface="Liberation Sans"/>
                  <a:cs typeface="Liberation Sans"/>
                  <a:sym typeface="Liberation Sans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571750" y="4171950"/>
            <a:ext cx="36195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1E2D48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Extraer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1750" y="4714875"/>
            <a:ext cx="361950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5569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Conectar con múltiples fuentes (Web, Excel, CSV, SQL) sin alterar el archivo original.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048500" y="3619500"/>
            <a:ext cx="4191000" cy="3238500"/>
            <a:chOff x="0" y="0"/>
            <a:chExt cx="5588000" cy="431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88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5588000">
                  <a:moveTo>
                    <a:pt x="431800" y="0"/>
                  </a:moveTo>
                  <a:lnTo>
                    <a:pt x="5156200" y="0"/>
                  </a:lnTo>
                  <a:cubicBezTo>
                    <a:pt x="5394677" y="0"/>
                    <a:pt x="5588000" y="193323"/>
                    <a:pt x="5588000" y="431800"/>
                  </a:cubicBezTo>
                  <a:lnTo>
                    <a:pt x="5588000" y="3886200"/>
                  </a:lnTo>
                  <a:cubicBezTo>
                    <a:pt x="5588000" y="4124677"/>
                    <a:pt x="5394677" y="4318000"/>
                    <a:pt x="51562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1F5F9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588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77300" y="3352800"/>
            <a:ext cx="533400" cy="590550"/>
            <a:chOff x="0" y="0"/>
            <a:chExt cx="711200" cy="787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1200" cy="787400"/>
            </a:xfrm>
            <a:custGeom>
              <a:avLst/>
              <a:gdLst/>
              <a:ahLst/>
              <a:cxnLst/>
              <a:rect r="r" b="b" t="t" l="l"/>
              <a:pathLst>
                <a:path h="787400" w="711200">
                  <a:moveTo>
                    <a:pt x="355600" y="0"/>
                  </a:moveTo>
                  <a:cubicBezTo>
                    <a:pt x="159208" y="0"/>
                    <a:pt x="0" y="176266"/>
                    <a:pt x="0" y="393700"/>
                  </a:cubicBezTo>
                  <a:cubicBezTo>
                    <a:pt x="0" y="611134"/>
                    <a:pt x="159208" y="787400"/>
                    <a:pt x="355600" y="787400"/>
                  </a:cubicBezTo>
                  <a:cubicBezTo>
                    <a:pt x="551992" y="787400"/>
                    <a:pt x="711200" y="611134"/>
                    <a:pt x="711200" y="393700"/>
                  </a:cubicBezTo>
                  <a:cubicBezTo>
                    <a:pt x="711200" y="176266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11200" cy="844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Liberation Sans"/>
                  <a:ea typeface="Liberation Sans"/>
                  <a:cs typeface="Liberation Sans"/>
                  <a:sym typeface="Liberation Sans"/>
                </a:rPr>
                <a:t>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334250" y="4171950"/>
            <a:ext cx="36195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1E2D48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Transformar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34250" y="4714875"/>
            <a:ext cx="361950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5569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Limpiar, filtrar y estructurar. Cada paso se graba visualmente.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811000" y="3619500"/>
            <a:ext cx="4191000" cy="3238500"/>
            <a:chOff x="0" y="0"/>
            <a:chExt cx="5588000" cy="4318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88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5588000">
                  <a:moveTo>
                    <a:pt x="431800" y="0"/>
                  </a:moveTo>
                  <a:lnTo>
                    <a:pt x="5156200" y="0"/>
                  </a:lnTo>
                  <a:cubicBezTo>
                    <a:pt x="5394677" y="0"/>
                    <a:pt x="5588000" y="193323"/>
                    <a:pt x="5588000" y="431800"/>
                  </a:cubicBezTo>
                  <a:lnTo>
                    <a:pt x="5588000" y="3886200"/>
                  </a:lnTo>
                  <a:cubicBezTo>
                    <a:pt x="5588000" y="4124677"/>
                    <a:pt x="5394677" y="4318000"/>
                    <a:pt x="51562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1F5F9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588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639800" y="3352800"/>
            <a:ext cx="533400" cy="590550"/>
            <a:chOff x="0" y="0"/>
            <a:chExt cx="711200" cy="787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1200" cy="787400"/>
            </a:xfrm>
            <a:custGeom>
              <a:avLst/>
              <a:gdLst/>
              <a:ahLst/>
              <a:cxnLst/>
              <a:rect r="r" b="b" t="t" l="l"/>
              <a:pathLst>
                <a:path h="787400" w="711200">
                  <a:moveTo>
                    <a:pt x="355600" y="0"/>
                  </a:moveTo>
                  <a:cubicBezTo>
                    <a:pt x="159208" y="0"/>
                    <a:pt x="0" y="176266"/>
                    <a:pt x="0" y="393700"/>
                  </a:cubicBezTo>
                  <a:cubicBezTo>
                    <a:pt x="0" y="611134"/>
                    <a:pt x="159208" y="787400"/>
                    <a:pt x="355600" y="787400"/>
                  </a:cubicBezTo>
                  <a:cubicBezTo>
                    <a:pt x="551992" y="787400"/>
                    <a:pt x="711200" y="611134"/>
                    <a:pt x="711200" y="393700"/>
                  </a:cubicBezTo>
                  <a:cubicBezTo>
                    <a:pt x="711200" y="176266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11200" cy="844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Liberation Sans"/>
                  <a:ea typeface="Liberation Sans"/>
                  <a:cs typeface="Liberation Sans"/>
                  <a:sym typeface="Liberation Sans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096750" y="4171950"/>
            <a:ext cx="36195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1E2D48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Cargar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96750" y="4714875"/>
            <a:ext cx="361950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5569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Enviar los datos limpios de vuelta a Excel o al Modelo de Datos para su análisis.</a:t>
            </a:r>
          </a:p>
        </p:txBody>
      </p:sp>
      <p:sp>
        <p:nvSpPr>
          <p:cNvPr name="AutoShape 29" id="29"/>
          <p:cNvSpPr/>
          <p:nvPr/>
        </p:nvSpPr>
        <p:spPr>
          <a:xfrm>
            <a:off x="6572250" y="5238750"/>
            <a:ext cx="381000" cy="0"/>
          </a:xfrm>
          <a:prstGeom prst="line">
            <a:avLst/>
          </a:prstGeom>
          <a:ln cap="rnd" w="19050">
            <a:solidFill>
              <a:srgbClr val="2563E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>
            <a:off x="11334750" y="5238750"/>
            <a:ext cx="381000" cy="0"/>
          </a:xfrm>
          <a:prstGeom prst="line">
            <a:avLst/>
          </a:prstGeom>
          <a:ln cap="rnd" w="19050">
            <a:solidFill>
              <a:srgbClr val="2563EB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90650" y="1057275"/>
            <a:ext cx="1500187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400" strike="noStrike" u="none">
                <a:solidFill>
                  <a:srgbClr val="132738"/>
                </a:solidFill>
                <a:latin typeface="Roboto Bold"/>
                <a:ea typeface="Roboto Bold"/>
                <a:cs typeface="Roboto Bold"/>
                <a:sym typeface="Roboto Bold"/>
              </a:rPr>
              <a:t>Casos de uso que transforman el flujo de trabajo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43088" y="2798180"/>
            <a:ext cx="6858000" cy="2667000"/>
            <a:chOff x="0" y="0"/>
            <a:chExt cx="9144000" cy="355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4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9144000">
                  <a:moveTo>
                    <a:pt x="355600" y="0"/>
                  </a:moveTo>
                  <a:lnTo>
                    <a:pt x="8788400" y="0"/>
                  </a:lnTo>
                  <a:cubicBezTo>
                    <a:pt x="8984793" y="0"/>
                    <a:pt x="9144000" y="159208"/>
                    <a:pt x="9144000" y="355600"/>
                  </a:cubicBezTo>
                  <a:lnTo>
                    <a:pt x="9144000" y="3200400"/>
                  </a:lnTo>
                  <a:cubicBezTo>
                    <a:pt x="9144000" y="3396792"/>
                    <a:pt x="8984793" y="3556000"/>
                    <a:pt x="8788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144000" cy="3603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85988" y="3102996"/>
            <a:ext cx="6172200" cy="45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1E2D48"/>
                </a:solidFill>
                <a:latin typeface="Roboto Bold"/>
                <a:ea typeface="Roboto Bold"/>
                <a:cs typeface="Roboto Bold"/>
                <a:sym typeface="Roboto Bold"/>
              </a:rPr>
              <a:t>Consolidación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85988" y="3660209"/>
            <a:ext cx="6172200" cy="1327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Unir archivos. Consolidar reportes de ventas o archivos de distintos meses automáticamente.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082088" y="2798180"/>
            <a:ext cx="6858000" cy="2667000"/>
            <a:chOff x="0" y="0"/>
            <a:chExt cx="9144000" cy="355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9144000">
                  <a:moveTo>
                    <a:pt x="355600" y="0"/>
                  </a:moveTo>
                  <a:lnTo>
                    <a:pt x="8788400" y="0"/>
                  </a:lnTo>
                  <a:cubicBezTo>
                    <a:pt x="8984793" y="0"/>
                    <a:pt x="9144000" y="159208"/>
                    <a:pt x="9144000" y="355600"/>
                  </a:cubicBezTo>
                  <a:lnTo>
                    <a:pt x="9144000" y="3200400"/>
                  </a:lnTo>
                  <a:cubicBezTo>
                    <a:pt x="9144000" y="3396792"/>
                    <a:pt x="8984793" y="3556000"/>
                    <a:pt x="8788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144000" cy="3603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424988" y="3102996"/>
            <a:ext cx="6172200" cy="45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1E2D48"/>
                </a:solidFill>
                <a:latin typeface="Roboto Bold"/>
                <a:ea typeface="Roboto Bold"/>
                <a:cs typeface="Roboto Bold"/>
                <a:sym typeface="Roboto Bold"/>
              </a:rPr>
              <a:t>Limpieza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24988" y="3691807"/>
            <a:ext cx="6172200" cy="88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Eliminar errores comunes, espacios en blanco o formatos inconsistentes.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843088" y="5846180"/>
            <a:ext cx="6858000" cy="2667000"/>
            <a:chOff x="0" y="0"/>
            <a:chExt cx="9144000" cy="355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9144000">
                  <a:moveTo>
                    <a:pt x="355600" y="0"/>
                  </a:moveTo>
                  <a:lnTo>
                    <a:pt x="8788400" y="0"/>
                  </a:lnTo>
                  <a:cubicBezTo>
                    <a:pt x="8984793" y="0"/>
                    <a:pt x="9144000" y="159208"/>
                    <a:pt x="9144000" y="355600"/>
                  </a:cubicBezTo>
                  <a:lnTo>
                    <a:pt x="9144000" y="3200400"/>
                  </a:lnTo>
                  <a:cubicBezTo>
                    <a:pt x="9144000" y="3396792"/>
                    <a:pt x="8984793" y="3556000"/>
                    <a:pt x="8788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144000" cy="3603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185988" y="6150996"/>
            <a:ext cx="6172200" cy="45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1E2D48"/>
                </a:solidFill>
                <a:latin typeface="Roboto Bold"/>
                <a:ea typeface="Roboto Bold"/>
                <a:cs typeface="Roboto Bold"/>
                <a:sym typeface="Roboto Bold"/>
              </a:rPr>
              <a:t>Fusión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85988" y="6712938"/>
            <a:ext cx="6172200" cy="1327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Combinar información de distintas fuentes (ej. clientes locales de Excel con precios web).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082088" y="5846180"/>
            <a:ext cx="6858000" cy="2667000"/>
            <a:chOff x="0" y="0"/>
            <a:chExt cx="9144000" cy="355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9144000">
                  <a:moveTo>
                    <a:pt x="355600" y="0"/>
                  </a:moveTo>
                  <a:lnTo>
                    <a:pt x="8788400" y="0"/>
                  </a:lnTo>
                  <a:cubicBezTo>
                    <a:pt x="8984793" y="0"/>
                    <a:pt x="9144000" y="159208"/>
                    <a:pt x="9144000" y="355600"/>
                  </a:cubicBezTo>
                  <a:lnTo>
                    <a:pt x="9144000" y="3200400"/>
                  </a:lnTo>
                  <a:cubicBezTo>
                    <a:pt x="9144000" y="3396792"/>
                    <a:pt x="8984793" y="3556000"/>
                    <a:pt x="8788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144000" cy="3603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424988" y="6150996"/>
            <a:ext cx="6172200" cy="45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1E2D48"/>
                </a:solidFill>
                <a:latin typeface="Roboto Bold"/>
                <a:ea typeface="Roboto Bold"/>
                <a:cs typeface="Roboto Bold"/>
                <a:sym typeface="Roboto Bold"/>
              </a:rPr>
              <a:t>Preparación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24988" y="6741513"/>
            <a:ext cx="6172200" cy="88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Preparar y estructurar datos crudos antes de generar dashboards o informes.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3500" y="981075"/>
            <a:ext cx="15621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400" strike="noStrike" u="none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Extracción: importando datos directo de la web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5034" y="3422955"/>
            <a:ext cx="15621000" cy="48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F1A2B"/>
                </a:solidFill>
                <a:latin typeface="Inter"/>
                <a:ea typeface="Inter"/>
                <a:cs typeface="Inter"/>
                <a:sym typeface="Inter"/>
              </a:rPr>
              <a:t>1. Navegar: Datos &gt; Obtener datos &gt; De web.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5034" y="4280205"/>
            <a:ext cx="15621000" cy="48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F1A2B"/>
                </a:solidFill>
                <a:latin typeface="Inter"/>
                <a:ea typeface="Inter"/>
                <a:cs typeface="Inter"/>
                <a:sym typeface="Inter"/>
              </a:rPr>
              <a:t>2. Pegar la URL deseada en el cuadro de diálogo.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5034" y="5137455"/>
            <a:ext cx="15621000" cy="48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F1A2B"/>
                </a:solidFill>
                <a:latin typeface="Inter"/>
                <a:ea typeface="Inter"/>
                <a:cs typeface="Inter"/>
                <a:sym typeface="Inter"/>
              </a:rPr>
              <a:t>3. Previsualizar las tablas detectadas en el panel Navegador.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5034" y="5994705"/>
            <a:ext cx="15621000" cy="48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F1A2B"/>
                </a:solidFill>
                <a:latin typeface="Inter"/>
                <a:ea typeface="Inter"/>
                <a:cs typeface="Inter"/>
                <a:sym typeface="Inter"/>
              </a:rPr>
              <a:t>4. Elegir entre </a:t>
            </a:r>
            <a:r>
              <a:rPr lang="en-US" b="true" sz="2699" strike="noStrike" u="none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Cargar</a:t>
            </a:r>
            <a:r>
              <a:rPr lang="en-US" sz="2699" strike="noStrike" u="none">
                <a:solidFill>
                  <a:srgbClr val="0F1A2B"/>
                </a:solidFill>
                <a:latin typeface="Inter"/>
                <a:ea typeface="Inter"/>
                <a:cs typeface="Inter"/>
                <a:sym typeface="Inter"/>
              </a:rPr>
              <a:t> (directo a Excel) o </a:t>
            </a:r>
            <a:r>
              <a:rPr lang="en-US" b="true" sz="2699" strike="noStrike" u="none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Transformar</a:t>
            </a:r>
            <a:r>
              <a:rPr lang="en-US" sz="2699" strike="noStrike" u="none">
                <a:solidFill>
                  <a:srgbClr val="0F1A2B"/>
                </a:solidFill>
                <a:latin typeface="Inter"/>
                <a:ea typeface="Inter"/>
                <a:cs typeface="Inter"/>
                <a:sym typeface="Inter"/>
              </a:rPr>
              <a:t> (abrir Power Query).</a:t>
            </a:r>
          </a:p>
        </p:txBody>
      </p:sp>
      <p:sp>
        <p:nvSpPr>
          <p:cNvPr name="AutoShape 7" id="7"/>
          <p:cNvSpPr/>
          <p:nvPr/>
        </p:nvSpPr>
        <p:spPr>
          <a:xfrm>
            <a:off x="1455034" y="7137721"/>
            <a:ext cx="3810000" cy="0"/>
          </a:xfrm>
          <a:prstGeom prst="line">
            <a:avLst/>
          </a:prstGeom>
          <a:ln cap="rnd" w="19050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455034" y="7352034"/>
            <a:ext cx="15621000" cy="40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 conexión se mantiene viva. Clic derecho &gt; Actualizar para traer los datos más recientes de la web.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3500" y="981075"/>
            <a:ext cx="15621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400" strike="noStrike" u="none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Conociendo los límites: scraping vs. datos nativos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3500" y="2312352"/>
            <a:ext cx="6667500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b="true" sz="31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Limitaciones del web scraping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4000" y="3450907"/>
            <a:ext cx="6286500" cy="42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No ejecuta JavaScript dinámico.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4000" y="3925277"/>
            <a:ext cx="6286500" cy="87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Falla con páginas que requieren login (autenticación).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4000" y="4847289"/>
            <a:ext cx="6286500" cy="87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Sensible a cambios en la estructura HTML (URLs que cambian).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5838825"/>
            <a:ext cx="6286500" cy="87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Posibles bloqueos por sistemas anti-scraping de la web.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0" y="2312352"/>
            <a:ext cx="6667500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9"/>
              </a:lnSpc>
              <a:spcBef>
                <a:spcPct val="0"/>
              </a:spcBef>
            </a:pPr>
            <a:r>
              <a:rPr lang="en-US" b="true" sz="3199" strike="noStrike" u="none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Datos nativos de excel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0" y="3299534"/>
            <a:ext cx="6667500" cy="131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374151"/>
                </a:solidFill>
                <a:latin typeface="Inter Bold"/>
                <a:ea typeface="Inter Bold"/>
                <a:cs typeface="Inter Bold"/>
                <a:sym typeface="Inter Bold"/>
              </a:rPr>
              <a:t>Acciones y Cotizaciones</a:t>
            </a:r>
          </a:p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Extrae precio y capitalización ingresando el ticker de la empresa.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0" y="4793031"/>
            <a:ext cx="6667500" cy="131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374151"/>
                </a:solidFill>
                <a:latin typeface="Inter Bold"/>
                <a:ea typeface="Inter Bold"/>
                <a:cs typeface="Inter Bold"/>
                <a:sym typeface="Inter Bold"/>
              </a:rPr>
              <a:t>Geografía</a:t>
            </a:r>
          </a:p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Extrae población y PIB vinculado a países o ciudades.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525000" y="6435042"/>
            <a:ext cx="3810000" cy="0"/>
          </a:xfrm>
          <a:prstGeom prst="line">
            <a:avLst/>
          </a:prstGeom>
          <a:ln cap="rnd" w="19050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525000" y="6705109"/>
            <a:ext cx="6667500" cy="79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 actualizan solos sin necesidad de Power Query.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3500" y="1152525"/>
            <a:ext cx="15621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400" strike="noStrike" u="none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Transformación visual: la máquina del tiempo de datos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3500" y="2422224"/>
            <a:ext cx="15621000" cy="42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Cada clic se graba. Modifica, reordena o elimina pasos sin romper el archivo original.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9525" y="3048000"/>
            <a:ext cx="1323975" cy="0"/>
          </a:xfrm>
          <a:prstGeom prst="line">
            <a:avLst/>
          </a:prstGeom>
          <a:ln cap="rnd" w="19050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333500" y="3994299"/>
            <a:ext cx="5715000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b="true" sz="31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Tipos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3500" y="4560576"/>
            <a:ext cx="5715000" cy="42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Cambiar texto a número o fecha.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" y="5170986"/>
            <a:ext cx="5715000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b="true" sz="31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Limpieza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" y="5816147"/>
            <a:ext cx="5715000" cy="87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Filtrar filas y eliminar columnas (Suprimir).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3500" y="6928634"/>
            <a:ext cx="5715000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b="true" sz="31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Personalización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3500" y="7497594"/>
            <a:ext cx="5715000" cy="42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Agregar columnas condicionales.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0" y="3960009"/>
            <a:ext cx="6667500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9"/>
              </a:lnSpc>
              <a:spcBef>
                <a:spcPct val="0"/>
              </a:spcBef>
            </a:pPr>
            <a:r>
              <a:rPr lang="en-US" b="true" sz="3199" strike="noStrike" u="none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Pasos Aplicados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15500" y="4558847"/>
            <a:ext cx="6286500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Origen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15500" y="4920797"/>
            <a:ext cx="6286500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Navegación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5500" y="5282747"/>
            <a:ext cx="6286500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Tipo cambiado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5500" y="5644697"/>
            <a:ext cx="6286500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Columnas quitadas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15500" y="6006647"/>
            <a:ext cx="6286500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Columnas con nombre cambiado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5500" y="6368597"/>
            <a:ext cx="6286500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Personalizada agregada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5500" y="6730547"/>
            <a:ext cx="6286500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Tipo cambiado1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15500" y="7092497"/>
            <a:ext cx="6286500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Personalizada agregada1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15500" y="7454447"/>
            <a:ext cx="6286500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Columnas con nombre cambiado1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5500" y="7816397"/>
            <a:ext cx="6286500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Columna Mes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33500" y="1714500"/>
            <a:ext cx="1905000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33500" y="790575"/>
            <a:ext cx="15621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400" strike="noStrike" u="none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Bajo el capó: descubriendo el Lenguaje 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00" y="3312630"/>
            <a:ext cx="15621000" cy="52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9"/>
              </a:lnSpc>
              <a:spcBef>
                <a:spcPct val="0"/>
              </a:spcBef>
            </a:pPr>
            <a:r>
              <a:rPr lang="en-US" sz="28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Power Query no es solo botones; en el fondo utiliza Lenguaje 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500" y="4265130"/>
            <a:ext cx="15621000" cy="52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9"/>
              </a:lnSpc>
              <a:spcBef>
                <a:spcPct val="0"/>
              </a:spcBef>
            </a:pPr>
            <a:r>
              <a:rPr lang="en-US" sz="28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Es un lenguaje funcional que describe cada transformación de los datos.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3500" y="5217630"/>
            <a:ext cx="15621000" cy="52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9"/>
              </a:lnSpc>
              <a:spcBef>
                <a:spcPct val="0"/>
              </a:spcBef>
            </a:pPr>
            <a:r>
              <a:rPr lang="en-US" sz="28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Se accede y edita directamente desde el Editor Avanzado.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" y="6170130"/>
            <a:ext cx="15621000" cy="52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9"/>
              </a:lnSpc>
              <a:spcBef>
                <a:spcPct val="0"/>
              </a:spcBef>
            </a:pPr>
            <a:r>
              <a:rPr lang="en-US" sz="28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  Cambios manuales requieren prudencia para no corromper la consulta.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33500" y="1714500"/>
            <a:ext cx="1905000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33500" y="790575"/>
            <a:ext cx="15621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400" strike="noStrike" u="none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Anatomía de una Consulta en Lenguaje 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6139" y="3317213"/>
            <a:ext cx="7641654" cy="2973145"/>
            <a:chOff x="0" y="0"/>
            <a:chExt cx="10160000" cy="3952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00" cy="3952960"/>
            </a:xfrm>
            <a:custGeom>
              <a:avLst/>
              <a:gdLst/>
              <a:ahLst/>
              <a:cxnLst/>
              <a:rect r="r" b="b" t="t" l="l"/>
              <a:pathLst>
                <a:path h="3952960" w="10160000">
                  <a:moveTo>
                    <a:pt x="355600" y="0"/>
                  </a:moveTo>
                  <a:lnTo>
                    <a:pt x="9804400" y="0"/>
                  </a:lnTo>
                  <a:cubicBezTo>
                    <a:pt x="10000793" y="0"/>
                    <a:pt x="10160000" y="176980"/>
                    <a:pt x="10160000" y="395296"/>
                  </a:cubicBezTo>
                  <a:lnTo>
                    <a:pt x="10160000" y="3557664"/>
                  </a:lnTo>
                  <a:cubicBezTo>
                    <a:pt x="10160000" y="3775980"/>
                    <a:pt x="10000793" y="3952960"/>
                    <a:pt x="9804400" y="3952960"/>
                  </a:cubicBezTo>
                  <a:lnTo>
                    <a:pt x="355600" y="3952960"/>
                  </a:lnTo>
                  <a:cubicBezTo>
                    <a:pt x="159208" y="3952960"/>
                    <a:pt x="0" y="3775980"/>
                    <a:pt x="0" y="3557664"/>
                  </a:cubicBezTo>
                  <a:lnTo>
                    <a:pt x="0" y="395296"/>
                  </a:lnTo>
                  <a:cubicBezTo>
                    <a:pt x="0" y="176980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160000" cy="399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93544" y="3309617"/>
            <a:ext cx="7048500" cy="276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</a:p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Origen = ...</a:t>
            </a:r>
          </a:p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#"Columna Mes" = Table.AddColumn(...)</a:t>
            </a:r>
          </a:p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</a:p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#"Columna Mes"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89794" y="3526589"/>
            <a:ext cx="7048500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374151"/>
                </a:solidFill>
                <a:latin typeface="Inter Bold"/>
                <a:ea typeface="Inter Bold"/>
                <a:cs typeface="Inter Bold"/>
                <a:sym typeface="Inter Bold"/>
              </a:rPr>
              <a:t>let</a:t>
            </a:r>
            <a:r>
              <a:rPr lang="en-US" sz="22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: Inicia la consulta. Contiene la secuencia de todos los pasos aplicados.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89794" y="4760076"/>
            <a:ext cx="7048500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374151"/>
                </a:solidFill>
                <a:latin typeface="Inter Bold"/>
                <a:ea typeface="Inter Bold"/>
                <a:cs typeface="Inter Bold"/>
                <a:sym typeface="Inter Bold"/>
              </a:rPr>
              <a:t>#"Nombre del Paso"</a:t>
            </a:r>
            <a:r>
              <a:rPr lang="en-US" sz="22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: Nombres con espacios requieren #"". Coinciden exactamente con el panel de la interfaz visual.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89794" y="6288839"/>
            <a:ext cx="7048500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374151"/>
                </a:solidFill>
                <a:latin typeface="Inter Bold"/>
                <a:ea typeface="Inter Bold"/>
                <a:cs typeface="Inter Bold"/>
                <a:sym typeface="Inter Bold"/>
              </a:rPr>
              <a:t>in</a:t>
            </a:r>
            <a:r>
              <a:rPr lang="en-US" sz="22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: Cierra la transformación. Define cuál paso será el resultado final (salida) de la consulta.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3500" y="762000"/>
            <a:ext cx="15621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Reglas de oro: rendimiento y velocidad</a:t>
            </a:r>
          </a:p>
        </p:txBody>
      </p:sp>
      <p:sp>
        <p:nvSpPr>
          <p:cNvPr name="AutoShape 3" id="3"/>
          <p:cNvSpPr/>
          <p:nvPr/>
        </p:nvSpPr>
        <p:spPr>
          <a:xfrm>
            <a:off x="1333500" y="1428750"/>
            <a:ext cx="1905000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33500" y="3449738"/>
            <a:ext cx="4819650" cy="3238500"/>
            <a:chOff x="0" y="0"/>
            <a:chExt cx="6426200" cy="431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262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6426200">
                  <a:moveTo>
                    <a:pt x="431800" y="0"/>
                  </a:moveTo>
                  <a:lnTo>
                    <a:pt x="5994400" y="0"/>
                  </a:lnTo>
                  <a:cubicBezTo>
                    <a:pt x="6232877" y="0"/>
                    <a:pt x="6426200" y="193323"/>
                    <a:pt x="6426200" y="431800"/>
                  </a:cubicBezTo>
                  <a:lnTo>
                    <a:pt x="6426200" y="3886200"/>
                  </a:lnTo>
                  <a:cubicBezTo>
                    <a:pt x="6426200" y="4124677"/>
                    <a:pt x="6232877" y="4318000"/>
                    <a:pt x="59944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426200" cy="436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38300" y="3670083"/>
            <a:ext cx="571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8300" y="4079006"/>
            <a:ext cx="4210050" cy="40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b="true" sz="24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Filtrar temprano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8300" y="4714089"/>
            <a:ext cx="4210050" cy="158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Reduce la carga de datos en las primeras fases. Permite aprovechar el plegado (Folding) en bases de datos.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24650" y="3449738"/>
            <a:ext cx="4819650" cy="3238500"/>
            <a:chOff x="0" y="0"/>
            <a:chExt cx="6426200" cy="431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262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6426200">
                  <a:moveTo>
                    <a:pt x="431800" y="0"/>
                  </a:moveTo>
                  <a:lnTo>
                    <a:pt x="5994400" y="0"/>
                  </a:lnTo>
                  <a:cubicBezTo>
                    <a:pt x="6232877" y="0"/>
                    <a:pt x="6426200" y="193323"/>
                    <a:pt x="6426200" y="431800"/>
                  </a:cubicBezTo>
                  <a:lnTo>
                    <a:pt x="6426200" y="3886200"/>
                  </a:lnTo>
                  <a:cubicBezTo>
                    <a:pt x="6426200" y="4124677"/>
                    <a:pt x="6232877" y="4318000"/>
                    <a:pt x="59944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426200" cy="436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029450" y="3670083"/>
            <a:ext cx="571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29450" y="4069465"/>
            <a:ext cx="4210050" cy="81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b="true" sz="24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Operaciones costosas al final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29450" y="4923261"/>
            <a:ext cx="4210050" cy="158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Deja los ordenamientos para el final. Ordenar requiere leer toda la tabla antes de devolver, ralentizando la previsualización.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115800" y="3449738"/>
            <a:ext cx="4819650" cy="3238500"/>
            <a:chOff x="0" y="0"/>
            <a:chExt cx="6426200" cy="4318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262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6426200">
                  <a:moveTo>
                    <a:pt x="431800" y="0"/>
                  </a:moveTo>
                  <a:lnTo>
                    <a:pt x="5994400" y="0"/>
                  </a:lnTo>
                  <a:cubicBezTo>
                    <a:pt x="6232877" y="0"/>
                    <a:pt x="6426200" y="193323"/>
                    <a:pt x="6426200" y="431800"/>
                  </a:cubicBezTo>
                  <a:lnTo>
                    <a:pt x="6426200" y="3886200"/>
                  </a:lnTo>
                  <a:cubicBezTo>
                    <a:pt x="6426200" y="4124677"/>
                    <a:pt x="6232877" y="4318000"/>
                    <a:pt x="59944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426200" cy="436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420600" y="3670083"/>
            <a:ext cx="571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20600" y="4152165"/>
            <a:ext cx="4210050" cy="40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b="true" sz="24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Trabajar con subconjuntos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20600" y="4818831"/>
            <a:ext cx="4210050" cy="158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Usa Conservar primeras filas temporalmente al diseñar consultas pesadas, eliminando este paso al finalizar.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3500" y="762000"/>
            <a:ext cx="15621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Reglas de oro: arquitectura resiliente</a:t>
            </a:r>
          </a:p>
        </p:txBody>
      </p:sp>
      <p:sp>
        <p:nvSpPr>
          <p:cNvPr name="AutoShape 3" id="3"/>
          <p:cNvSpPr/>
          <p:nvPr/>
        </p:nvSpPr>
        <p:spPr>
          <a:xfrm>
            <a:off x="1333500" y="1428750"/>
            <a:ext cx="1905000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33500" y="1905000"/>
            <a:ext cx="15621000" cy="2095500"/>
            <a:chOff x="0" y="0"/>
            <a:chExt cx="20828000" cy="279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28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0828000">
                  <a:moveTo>
                    <a:pt x="279400" y="0"/>
                  </a:moveTo>
                  <a:lnTo>
                    <a:pt x="20548600" y="0"/>
                  </a:lnTo>
                  <a:cubicBezTo>
                    <a:pt x="20702908" y="0"/>
                    <a:pt x="20828000" y="125092"/>
                    <a:pt x="20828000" y="279400"/>
                  </a:cubicBezTo>
                  <a:lnTo>
                    <a:pt x="20828000" y="2514600"/>
                  </a:lnTo>
                  <a:cubicBezTo>
                    <a:pt x="20828000" y="2668908"/>
                    <a:pt x="20702908" y="2794000"/>
                    <a:pt x="205486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828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38300" y="2095500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8300" y="2457450"/>
            <a:ext cx="15011400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b="true" sz="2600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Enfoque modular y grupos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8300" y="2982278"/>
            <a:ext cx="150114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Divide consultas gigantes en partes más pequeñas (Extraer el Paso Anterior). Usa carpetas y grupos en el panel para organizar el trabajo de forma lógica.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33500" y="4381500"/>
            <a:ext cx="15621000" cy="2095500"/>
            <a:chOff x="0" y="0"/>
            <a:chExt cx="20828000" cy="279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28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0828000">
                  <a:moveTo>
                    <a:pt x="279400" y="0"/>
                  </a:moveTo>
                  <a:lnTo>
                    <a:pt x="20548600" y="0"/>
                  </a:lnTo>
                  <a:cubicBezTo>
                    <a:pt x="20702908" y="0"/>
                    <a:pt x="20828000" y="125092"/>
                    <a:pt x="20828000" y="279400"/>
                  </a:cubicBezTo>
                  <a:lnTo>
                    <a:pt x="20828000" y="2514600"/>
                  </a:lnTo>
                  <a:cubicBezTo>
                    <a:pt x="20828000" y="2668908"/>
                    <a:pt x="20702908" y="2794000"/>
                    <a:pt x="205486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828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38300" y="4572000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8300" y="4933950"/>
            <a:ext cx="15011400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b="true" sz="2600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Preparación para el futuro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8300" y="5462905"/>
            <a:ext cx="150114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Evita depender de posiciones fijas. Usa operaciones dinámicas como Elegir columnas o Anular dinamización para sobrevivir a cambios de estructura en el origen.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33500" y="6858000"/>
            <a:ext cx="15621000" cy="2095500"/>
            <a:chOff x="0" y="0"/>
            <a:chExt cx="20828000" cy="279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828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0828000">
                  <a:moveTo>
                    <a:pt x="279400" y="0"/>
                  </a:moveTo>
                  <a:lnTo>
                    <a:pt x="20548600" y="0"/>
                  </a:lnTo>
                  <a:cubicBezTo>
                    <a:pt x="20702908" y="0"/>
                    <a:pt x="20828000" y="125092"/>
                    <a:pt x="20828000" y="279400"/>
                  </a:cubicBezTo>
                  <a:lnTo>
                    <a:pt x="20828000" y="2514600"/>
                  </a:lnTo>
                  <a:cubicBezTo>
                    <a:pt x="20828000" y="2668908"/>
                    <a:pt x="20702908" y="2794000"/>
                    <a:pt x="205486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828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38300" y="7048500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38300" y="7410450"/>
            <a:ext cx="15011400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b="true" sz="2600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Parámetros y funciones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38300" y="7939405"/>
            <a:ext cx="150114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Centraliza valores dinámicos (ej. nombre de un servidor) con Parámetros. Convierte transformaciones repetitivas en Funciones Personalizadas en M para reutilizarlas en múltiples consultas.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3500" y="762000"/>
            <a:ext cx="15621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Triage de errores: dos niveles de falla</a:t>
            </a:r>
          </a:p>
        </p:txBody>
      </p:sp>
      <p:sp>
        <p:nvSpPr>
          <p:cNvPr name="AutoShape 3" id="3"/>
          <p:cNvSpPr/>
          <p:nvPr/>
        </p:nvSpPr>
        <p:spPr>
          <a:xfrm>
            <a:off x="1333500" y="1428750"/>
            <a:ext cx="1905000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33500" y="2095500"/>
            <a:ext cx="7620000" cy="6667500"/>
            <a:chOff x="0" y="0"/>
            <a:chExt cx="10160000" cy="889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0160000">
                  <a:moveTo>
                    <a:pt x="889000" y="0"/>
                  </a:moveTo>
                  <a:lnTo>
                    <a:pt x="9271000" y="0"/>
                  </a:lnTo>
                  <a:cubicBezTo>
                    <a:pt x="9761981" y="0"/>
                    <a:pt x="10160000" y="398019"/>
                    <a:pt x="10160000" y="889000"/>
                  </a:cubicBezTo>
                  <a:lnTo>
                    <a:pt x="10160000" y="8001000"/>
                  </a:lnTo>
                  <a:cubicBezTo>
                    <a:pt x="10160000" y="8491981"/>
                    <a:pt x="9761981" y="8890000"/>
                    <a:pt x="9271000" y="8890000"/>
                  </a:cubicBezTo>
                  <a:lnTo>
                    <a:pt x="889000" y="8890000"/>
                  </a:lnTo>
                  <a:cubicBezTo>
                    <a:pt x="398019" y="8890000"/>
                    <a:pt x="0" y="8491981"/>
                    <a:pt x="0" y="8001000"/>
                  </a:cubicBezTo>
                  <a:lnTo>
                    <a:pt x="0" y="889000"/>
                  </a:lnTo>
                  <a:cubicBezTo>
                    <a:pt x="0" y="398019"/>
                    <a:pt x="398019" y="0"/>
                    <a:pt x="8890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160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38300" y="2362200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8300" y="2726657"/>
            <a:ext cx="7010400" cy="47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9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Errores a nivel de paso (step-level)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8300" y="4291462"/>
            <a:ext cx="7010400" cy="184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Impide que la consulta se cargue por completo. Es una falla estructural.</a:t>
            </a:r>
          </a:p>
          <a:p>
            <a:pPr algn="l">
              <a:lnSpc>
                <a:spcPts val="3749"/>
              </a:lnSpc>
            </a:pP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Ejemplo: No se encuentra el archivo.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34500" y="2095500"/>
            <a:ext cx="7620000" cy="6667500"/>
            <a:chOff x="0" y="0"/>
            <a:chExt cx="10160000" cy="889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0160000">
                  <a:moveTo>
                    <a:pt x="889000" y="0"/>
                  </a:moveTo>
                  <a:lnTo>
                    <a:pt x="9271000" y="0"/>
                  </a:lnTo>
                  <a:cubicBezTo>
                    <a:pt x="9761981" y="0"/>
                    <a:pt x="10160000" y="398019"/>
                    <a:pt x="10160000" y="889000"/>
                  </a:cubicBezTo>
                  <a:lnTo>
                    <a:pt x="10160000" y="8001000"/>
                  </a:lnTo>
                  <a:cubicBezTo>
                    <a:pt x="10160000" y="8491981"/>
                    <a:pt x="9761981" y="8890000"/>
                    <a:pt x="9271000" y="8890000"/>
                  </a:cubicBezTo>
                  <a:lnTo>
                    <a:pt x="889000" y="8890000"/>
                  </a:lnTo>
                  <a:cubicBezTo>
                    <a:pt x="398019" y="8890000"/>
                    <a:pt x="0" y="8491981"/>
                    <a:pt x="0" y="8001000"/>
                  </a:cubicBezTo>
                  <a:lnTo>
                    <a:pt x="0" y="889000"/>
                  </a:lnTo>
                  <a:cubicBezTo>
                    <a:pt x="0" y="398019"/>
                    <a:pt x="398019" y="0"/>
                    <a:pt x="8890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160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39300" y="2362200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39300" y="2726657"/>
            <a:ext cx="7010400" cy="47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Errores a nivel de celda (cell-level)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56325" y="4291462"/>
            <a:ext cx="7010400" cy="184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La consulta se ejecuta, pero datos específicos fallan en la conversión.</a:t>
            </a:r>
          </a:p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Ejemplo: Letras en una columna de números.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3500" y="762000"/>
            <a:ext cx="15621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Diagnóstico clínico: errores de paso</a:t>
            </a:r>
          </a:p>
        </p:txBody>
      </p:sp>
      <p:sp>
        <p:nvSpPr>
          <p:cNvPr name="AutoShape 3" id="3"/>
          <p:cNvSpPr/>
          <p:nvPr/>
        </p:nvSpPr>
        <p:spPr>
          <a:xfrm>
            <a:off x="1333500" y="1428750"/>
            <a:ext cx="1905000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29328" y="2026052"/>
            <a:ext cx="7620000" cy="6667500"/>
            <a:chOff x="0" y="0"/>
            <a:chExt cx="10160000" cy="889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0160000">
                  <a:moveTo>
                    <a:pt x="889000" y="0"/>
                  </a:moveTo>
                  <a:lnTo>
                    <a:pt x="9271000" y="0"/>
                  </a:lnTo>
                  <a:cubicBezTo>
                    <a:pt x="9761981" y="0"/>
                    <a:pt x="10160000" y="398019"/>
                    <a:pt x="10160000" y="889000"/>
                  </a:cubicBezTo>
                  <a:lnTo>
                    <a:pt x="10160000" y="8001000"/>
                  </a:lnTo>
                  <a:cubicBezTo>
                    <a:pt x="10160000" y="8491981"/>
                    <a:pt x="9761981" y="8890000"/>
                    <a:pt x="9271000" y="8890000"/>
                  </a:cubicBezTo>
                  <a:lnTo>
                    <a:pt x="889000" y="8890000"/>
                  </a:lnTo>
                  <a:cubicBezTo>
                    <a:pt x="398019" y="8890000"/>
                    <a:pt x="0" y="8491981"/>
                    <a:pt x="0" y="8001000"/>
                  </a:cubicBezTo>
                  <a:lnTo>
                    <a:pt x="0" y="889000"/>
                  </a:lnTo>
                  <a:cubicBezTo>
                    <a:pt x="0" y="398019"/>
                    <a:pt x="398019" y="0"/>
                    <a:pt x="8890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160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38300" y="2362200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8300" y="3486150"/>
            <a:ext cx="7010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3000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DataSource.NotFound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8300" y="4567238"/>
            <a:ext cx="7010400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Causa: Archivo movido, borrado o credenciales incorrectas.</a:t>
            </a:r>
          </a:p>
          <a:p>
            <a:pPr algn="l">
              <a:lnSpc>
                <a:spcPts val="3749"/>
              </a:lnSpc>
            </a:pP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Solución: Actualizar la ruta del archivo o revisar permisos de acceso.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34500" y="2095500"/>
            <a:ext cx="7620000" cy="6667500"/>
            <a:chOff x="0" y="0"/>
            <a:chExt cx="10160000" cy="889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0160000">
                  <a:moveTo>
                    <a:pt x="889000" y="0"/>
                  </a:moveTo>
                  <a:lnTo>
                    <a:pt x="9271000" y="0"/>
                  </a:lnTo>
                  <a:cubicBezTo>
                    <a:pt x="9761981" y="0"/>
                    <a:pt x="10160000" y="398019"/>
                    <a:pt x="10160000" y="889000"/>
                  </a:cubicBezTo>
                  <a:lnTo>
                    <a:pt x="10160000" y="8001000"/>
                  </a:lnTo>
                  <a:cubicBezTo>
                    <a:pt x="10160000" y="8491981"/>
                    <a:pt x="9761981" y="8890000"/>
                    <a:pt x="9271000" y="8890000"/>
                  </a:cubicBezTo>
                  <a:lnTo>
                    <a:pt x="889000" y="8890000"/>
                  </a:lnTo>
                  <a:cubicBezTo>
                    <a:pt x="398019" y="8890000"/>
                    <a:pt x="0" y="8491981"/>
                    <a:pt x="0" y="8001000"/>
                  </a:cubicBezTo>
                  <a:lnTo>
                    <a:pt x="0" y="889000"/>
                  </a:lnTo>
                  <a:cubicBezTo>
                    <a:pt x="0" y="398019"/>
                    <a:pt x="398019" y="0"/>
                    <a:pt x="8890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160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39300" y="2362200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08748" y="3486150"/>
            <a:ext cx="7010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3000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Expression.Error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8748" y="4567238"/>
            <a:ext cx="7010400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Causa: Referencia rígida a una columna que cambió de nombre en el archivo de origen.</a:t>
            </a:r>
          </a:p>
          <a:p>
            <a:pPr algn="l">
              <a:lnSpc>
                <a:spcPts val="3749"/>
              </a:lnSpc>
            </a:pP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Solución: Eliminar o modificar el paso que busca el nombre antiguo.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3500" y="762000"/>
            <a:ext cx="15621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Manejo quirúrgico: errores de celda</a:t>
            </a:r>
          </a:p>
        </p:txBody>
      </p:sp>
      <p:sp>
        <p:nvSpPr>
          <p:cNvPr name="AutoShape 3" id="3"/>
          <p:cNvSpPr/>
          <p:nvPr/>
        </p:nvSpPr>
        <p:spPr>
          <a:xfrm>
            <a:off x="1333500" y="1428750"/>
            <a:ext cx="1905000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33500" y="2755257"/>
            <a:ext cx="4936612" cy="5275514"/>
            <a:chOff x="0" y="0"/>
            <a:chExt cx="6350000" cy="67859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785932"/>
            </a:xfrm>
            <a:custGeom>
              <a:avLst/>
              <a:gdLst/>
              <a:ahLst/>
              <a:cxnLst/>
              <a:rect r="r" b="b" t="t" l="l"/>
              <a:pathLst>
                <a:path h="6785932" w="6350000">
                  <a:moveTo>
                    <a:pt x="330200" y="0"/>
                  </a:moveTo>
                  <a:lnTo>
                    <a:pt x="6019800" y="0"/>
                  </a:lnTo>
                  <a:cubicBezTo>
                    <a:pt x="6202164" y="0"/>
                    <a:pt x="6350000" y="303817"/>
                    <a:pt x="6350000" y="678593"/>
                  </a:cubicBezTo>
                  <a:lnTo>
                    <a:pt x="6350000" y="6107339"/>
                  </a:lnTo>
                  <a:cubicBezTo>
                    <a:pt x="6350000" y="6482116"/>
                    <a:pt x="6202164" y="6785932"/>
                    <a:pt x="6019800" y="6785932"/>
                  </a:cubicBezTo>
                  <a:lnTo>
                    <a:pt x="330200" y="6785932"/>
                  </a:lnTo>
                  <a:cubicBezTo>
                    <a:pt x="147836" y="6785932"/>
                    <a:pt x="0" y="6482116"/>
                    <a:pt x="0" y="6107339"/>
                  </a:cubicBezTo>
                  <a:lnTo>
                    <a:pt x="0" y="678593"/>
                  </a:lnTo>
                  <a:cubicBezTo>
                    <a:pt x="0" y="303817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350000" cy="6824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38300" y="2945757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8300" y="3596820"/>
            <a:ext cx="4152900" cy="45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7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Quitar (remove)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8300" y="4611730"/>
            <a:ext cx="4152900" cy="221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Eliminar filas enteras que contengan errores.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Ideal si el dato corrupto es inútil para el análisis.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77000" y="2755257"/>
            <a:ext cx="4762500" cy="5275514"/>
            <a:chOff x="0" y="0"/>
            <a:chExt cx="6350000" cy="70340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7034019"/>
            </a:xfrm>
            <a:custGeom>
              <a:avLst/>
              <a:gdLst/>
              <a:ahLst/>
              <a:cxnLst/>
              <a:rect r="r" b="b" t="t" l="l"/>
              <a:pathLst>
                <a:path h="7034019" w="6350000">
                  <a:moveTo>
                    <a:pt x="330200" y="0"/>
                  </a:moveTo>
                  <a:lnTo>
                    <a:pt x="6019800" y="0"/>
                  </a:lnTo>
                  <a:cubicBezTo>
                    <a:pt x="6202164" y="0"/>
                    <a:pt x="6350000" y="314924"/>
                    <a:pt x="6350000" y="703402"/>
                  </a:cubicBezTo>
                  <a:lnTo>
                    <a:pt x="6350000" y="6330617"/>
                  </a:lnTo>
                  <a:cubicBezTo>
                    <a:pt x="6350000" y="6719095"/>
                    <a:pt x="6202164" y="7034019"/>
                    <a:pt x="6019800" y="7034019"/>
                  </a:cubicBezTo>
                  <a:lnTo>
                    <a:pt x="330200" y="7034019"/>
                  </a:lnTo>
                  <a:cubicBezTo>
                    <a:pt x="147836" y="7034019"/>
                    <a:pt x="0" y="6719095"/>
                    <a:pt x="0" y="6330617"/>
                  </a:cubicBezTo>
                  <a:lnTo>
                    <a:pt x="0" y="703402"/>
                  </a:lnTo>
                  <a:cubicBezTo>
                    <a:pt x="0" y="314924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350000" cy="7072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781800" y="2945757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81800" y="3596820"/>
            <a:ext cx="4152900" cy="45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Reemplazar (replace)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81800" y="4611730"/>
            <a:ext cx="4152900" cy="221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Sustituir el error por un valor fijo (ej. 0 o N/A).</a:t>
            </a:r>
          </a:p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Mantiene la estructura de la fila intacta.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620500" y="2755257"/>
            <a:ext cx="4762500" cy="5275514"/>
            <a:chOff x="0" y="0"/>
            <a:chExt cx="6350000" cy="70340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7034019"/>
            </a:xfrm>
            <a:custGeom>
              <a:avLst/>
              <a:gdLst/>
              <a:ahLst/>
              <a:cxnLst/>
              <a:rect r="r" b="b" t="t" l="l"/>
              <a:pathLst>
                <a:path h="7034019" w="6350000">
                  <a:moveTo>
                    <a:pt x="330200" y="0"/>
                  </a:moveTo>
                  <a:lnTo>
                    <a:pt x="6019800" y="0"/>
                  </a:lnTo>
                  <a:cubicBezTo>
                    <a:pt x="6202164" y="0"/>
                    <a:pt x="6350000" y="314924"/>
                    <a:pt x="6350000" y="703402"/>
                  </a:cubicBezTo>
                  <a:lnTo>
                    <a:pt x="6350000" y="6330617"/>
                  </a:lnTo>
                  <a:cubicBezTo>
                    <a:pt x="6350000" y="6719095"/>
                    <a:pt x="6202164" y="7034019"/>
                    <a:pt x="6019800" y="7034019"/>
                  </a:cubicBezTo>
                  <a:lnTo>
                    <a:pt x="330200" y="7034019"/>
                  </a:lnTo>
                  <a:cubicBezTo>
                    <a:pt x="147836" y="7034019"/>
                    <a:pt x="0" y="6719095"/>
                    <a:pt x="0" y="6330617"/>
                  </a:cubicBezTo>
                  <a:lnTo>
                    <a:pt x="0" y="703402"/>
                  </a:lnTo>
                  <a:cubicBezTo>
                    <a:pt x="0" y="314924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350000" cy="7072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925300" y="2945757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25300" y="3596820"/>
            <a:ext cx="4152900" cy="45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Conservar (keep)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25300" y="4611730"/>
            <a:ext cx="4152900" cy="221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Aislar las filas con errores para crear un reporte de auditoría y rastrear problemas en la fuente de datos.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3500" y="762000"/>
            <a:ext cx="156210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El Ciclo de automatización </a:t>
            </a:r>
            <a:r>
              <a:rPr lang="en-US" b="true" sz="4400" i="true">
                <a:solidFill>
                  <a:srgbClr val="0F1A2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zero-touch</a:t>
            </a:r>
          </a:p>
        </p:txBody>
      </p:sp>
      <p:sp>
        <p:nvSpPr>
          <p:cNvPr name="AutoShape 3" id="3"/>
          <p:cNvSpPr/>
          <p:nvPr/>
        </p:nvSpPr>
        <p:spPr>
          <a:xfrm>
            <a:off x="1333500" y="1428750"/>
            <a:ext cx="1905000" cy="0"/>
          </a:xfrm>
          <a:prstGeom prst="line">
            <a:avLst/>
          </a:prstGeom>
          <a:ln cap="rnd" w="28575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333500" y="1898730"/>
            <a:ext cx="156210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Construye una vez. Actualiza con un clic para siempre. El fin del Copiar y Pegar.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3500" y="3239465"/>
            <a:ext cx="3705225" cy="4953000"/>
            <a:chOff x="0" y="0"/>
            <a:chExt cx="4940300" cy="660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403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4940300">
                  <a:moveTo>
                    <a:pt x="494030" y="0"/>
                  </a:moveTo>
                  <a:lnTo>
                    <a:pt x="4446270" y="0"/>
                  </a:lnTo>
                  <a:cubicBezTo>
                    <a:pt x="4719115" y="0"/>
                    <a:pt x="4940300" y="221185"/>
                    <a:pt x="4940300" y="494030"/>
                  </a:cubicBezTo>
                  <a:lnTo>
                    <a:pt x="4940300" y="6109970"/>
                  </a:lnTo>
                  <a:cubicBezTo>
                    <a:pt x="4940300" y="6382815"/>
                    <a:pt x="4719115" y="6604000"/>
                    <a:pt x="4446270" y="6604000"/>
                  </a:cubicBezTo>
                  <a:lnTo>
                    <a:pt x="494030" y="6604000"/>
                  </a:lnTo>
                  <a:cubicBezTo>
                    <a:pt x="221185" y="6604000"/>
                    <a:pt x="0" y="6382815"/>
                    <a:pt x="0" y="6109970"/>
                  </a:cubicBezTo>
                  <a:lnTo>
                    <a:pt x="0" y="494030"/>
                  </a:lnTo>
                  <a:cubicBezTo>
                    <a:pt x="0" y="221185"/>
                    <a:pt x="221185" y="0"/>
                    <a:pt x="49403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9403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38300" y="3506165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8300" y="3982381"/>
            <a:ext cx="3095625" cy="91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7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Conexión resiliente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38300" y="5468315"/>
            <a:ext cx="3095625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Conectar fuentes de datos (Web, Archivos, DBs) de forma robusta y adaptable a cambios.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05425" y="3239465"/>
            <a:ext cx="3705225" cy="4953000"/>
            <a:chOff x="0" y="0"/>
            <a:chExt cx="4940300" cy="660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403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4940300">
                  <a:moveTo>
                    <a:pt x="494030" y="0"/>
                  </a:moveTo>
                  <a:lnTo>
                    <a:pt x="4446270" y="0"/>
                  </a:lnTo>
                  <a:cubicBezTo>
                    <a:pt x="4719115" y="0"/>
                    <a:pt x="4940300" y="221185"/>
                    <a:pt x="4940300" y="494030"/>
                  </a:cubicBezTo>
                  <a:lnTo>
                    <a:pt x="4940300" y="6109970"/>
                  </a:lnTo>
                  <a:cubicBezTo>
                    <a:pt x="4940300" y="6382815"/>
                    <a:pt x="4719115" y="6604000"/>
                    <a:pt x="4446270" y="6604000"/>
                  </a:cubicBezTo>
                  <a:lnTo>
                    <a:pt x="494030" y="6604000"/>
                  </a:lnTo>
                  <a:cubicBezTo>
                    <a:pt x="221185" y="6604000"/>
                    <a:pt x="0" y="6382815"/>
                    <a:pt x="0" y="6109970"/>
                  </a:cubicBezTo>
                  <a:lnTo>
                    <a:pt x="0" y="494030"/>
                  </a:lnTo>
                  <a:cubicBezTo>
                    <a:pt x="0" y="221185"/>
                    <a:pt x="221185" y="0"/>
                    <a:pt x="49403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9403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610225" y="3506165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10225" y="3982381"/>
            <a:ext cx="3095625" cy="91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7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Transformación modular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10225" y="5502605"/>
            <a:ext cx="3095625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Aplicar limpieza y modelado con UI Visual + M Language de forma reutilizable.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77350" y="3239465"/>
            <a:ext cx="3705225" cy="4953000"/>
            <a:chOff x="0" y="0"/>
            <a:chExt cx="4940300" cy="660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403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4940300">
                  <a:moveTo>
                    <a:pt x="494030" y="0"/>
                  </a:moveTo>
                  <a:lnTo>
                    <a:pt x="4446270" y="0"/>
                  </a:lnTo>
                  <a:cubicBezTo>
                    <a:pt x="4719115" y="0"/>
                    <a:pt x="4940300" y="221185"/>
                    <a:pt x="4940300" y="494030"/>
                  </a:cubicBezTo>
                  <a:lnTo>
                    <a:pt x="4940300" y="6109970"/>
                  </a:lnTo>
                  <a:cubicBezTo>
                    <a:pt x="4940300" y="6382815"/>
                    <a:pt x="4719115" y="6604000"/>
                    <a:pt x="4446270" y="6604000"/>
                  </a:cubicBezTo>
                  <a:lnTo>
                    <a:pt x="494030" y="6604000"/>
                  </a:lnTo>
                  <a:cubicBezTo>
                    <a:pt x="221185" y="6604000"/>
                    <a:pt x="0" y="6382815"/>
                    <a:pt x="0" y="6109970"/>
                  </a:cubicBezTo>
                  <a:lnTo>
                    <a:pt x="0" y="494030"/>
                  </a:lnTo>
                  <a:cubicBezTo>
                    <a:pt x="0" y="221185"/>
                    <a:pt x="221185" y="0"/>
                    <a:pt x="49403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9403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582150" y="3506165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82150" y="3982381"/>
            <a:ext cx="3095625" cy="91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7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Manejo de errores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82150" y="5502605"/>
            <a:ext cx="3095625" cy="20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Triage preventivo para detectar y resolver problemas antes de que afecten el resultado.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249275" y="3239465"/>
            <a:ext cx="3705225" cy="4953000"/>
            <a:chOff x="0" y="0"/>
            <a:chExt cx="4940300" cy="660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403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4940300">
                  <a:moveTo>
                    <a:pt x="494030" y="0"/>
                  </a:moveTo>
                  <a:lnTo>
                    <a:pt x="4446270" y="0"/>
                  </a:lnTo>
                  <a:cubicBezTo>
                    <a:pt x="4719115" y="0"/>
                    <a:pt x="4940300" y="221185"/>
                    <a:pt x="4940300" y="494030"/>
                  </a:cubicBezTo>
                  <a:lnTo>
                    <a:pt x="4940300" y="6109970"/>
                  </a:lnTo>
                  <a:cubicBezTo>
                    <a:pt x="4940300" y="6382815"/>
                    <a:pt x="4719115" y="6604000"/>
                    <a:pt x="4446270" y="6604000"/>
                  </a:cubicBezTo>
                  <a:lnTo>
                    <a:pt x="494030" y="6604000"/>
                  </a:lnTo>
                  <a:cubicBezTo>
                    <a:pt x="221185" y="6604000"/>
                    <a:pt x="0" y="6382815"/>
                    <a:pt x="0" y="6109970"/>
                  </a:cubicBezTo>
                  <a:lnTo>
                    <a:pt x="0" y="494030"/>
                  </a:lnTo>
                  <a:cubicBezTo>
                    <a:pt x="0" y="221185"/>
                    <a:pt x="221185" y="0"/>
                    <a:pt x="494030" y="0"/>
                  </a:cubicBezTo>
                  <a:close/>
                </a:path>
              </a:pathLst>
            </a:custGeom>
            <a:solidFill>
              <a:srgbClr val="F8FAFC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9403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554075" y="3506165"/>
            <a:ext cx="571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63EB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54075" y="3982381"/>
            <a:ext cx="3095625" cy="91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799" i="true">
                <a:solidFill>
                  <a:srgbClr val="0F1A2B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Insights </a:t>
            </a:r>
            <a:r>
              <a:rPr lang="en-US" b="true" sz="2799">
                <a:solidFill>
                  <a:srgbClr val="0F1A2B"/>
                </a:solidFill>
                <a:latin typeface="Inter Bold"/>
                <a:ea typeface="Inter Bold"/>
                <a:cs typeface="Inter Bold"/>
                <a:sym typeface="Inter Bold"/>
              </a:rPr>
              <a:t>actualizados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54075" y="5572004"/>
            <a:ext cx="3095625" cy="1611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Dashboard en Excel/Power BI que se actualiza con un clic, sin copiar y pegar.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DAHPd5bZsPw</dc:identifier>
  <dcterms:modified xsi:type="dcterms:W3CDTF">2011-08-01T06:04:30Z</dcterms:modified>
  <cp:revision>1</cp:revision>
  <dc:title>Power Query I.pptx</dc:title>
</cp:coreProperties>
</file>