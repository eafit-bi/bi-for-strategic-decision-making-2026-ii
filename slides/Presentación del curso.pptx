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libri (MS) Bold" charset="1" panose="020F0702030404030204"/>
      <p:regular r:id="rId16"/>
    </p:embeddedFont>
    <p:embeddedFont>
      <p:font typeface="Cambria Bold" charset="1" panose="02040803050406030204"/>
      <p:regular r:id="rId17"/>
    </p:embeddedFont>
    <p:embeddedFont>
      <p:font typeface="Calibri (MS)" charset="1" panose="020F0502020204030204"/>
      <p:regular r:id="rId18"/>
    </p:embeddedFont>
    <p:embeddedFont>
      <p:font typeface="Arial Bold" charset="1" panose="020B07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38960" y="-2194560"/>
            <a:ext cx="6858000" cy="6858000"/>
            <a:chOff x="0" y="0"/>
            <a:chExt cx="9144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26327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468880" y="7132320"/>
            <a:ext cx="5486400" cy="5486400"/>
            <a:chOff x="0" y="0"/>
            <a:chExt cx="7315200" cy="731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26327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2811780"/>
            <a:ext cx="10972800" cy="548640"/>
            <a:chOff x="0" y="0"/>
            <a:chExt cx="146304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450">
                  <a:solidFill>
                    <a:srgbClr val="F2A5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BUSINESS INTELLIGENCE PARA DECISIONES ESTRATÉGICAS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8230" y="2155604"/>
            <a:ext cx="14401800" cy="4839556"/>
            <a:chOff x="0" y="0"/>
            <a:chExt cx="19202400" cy="64527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6452741"/>
            </a:xfrm>
            <a:custGeom>
              <a:avLst/>
              <a:gdLst/>
              <a:ahLst/>
              <a:cxnLst/>
              <a:rect r="r" b="b" t="t" l="l"/>
              <a:pathLst>
                <a:path h="6452741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6452741"/>
                  </a:lnTo>
                  <a:lnTo>
                    <a:pt x="0" y="64527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79" r="0" b="250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202400" cy="6471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Presentación de curso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97280" y="4991100"/>
            <a:ext cx="10972800" cy="822960"/>
            <a:chOff x="0" y="0"/>
            <a:chExt cx="1463040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46304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Semestre 2026-2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78230" y="5947410"/>
            <a:ext cx="3055620" cy="38100"/>
            <a:chOff x="0" y="0"/>
            <a:chExt cx="4074160" cy="50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74160" cy="50800"/>
            </a:xfrm>
            <a:custGeom>
              <a:avLst/>
              <a:gdLst/>
              <a:ahLst/>
              <a:cxnLst/>
              <a:rect r="r" b="b" t="t" l="l"/>
              <a:pathLst>
                <a:path h="50800" w="4074160">
                  <a:moveTo>
                    <a:pt x="0" y="0"/>
                  </a:moveTo>
                  <a:lnTo>
                    <a:pt x="407416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12700" r="0" b="-1512700"/>
              </a:stretch>
            </a:blipFill>
            <a:ln w="38100" cap="sq">
              <a:solidFill>
                <a:srgbClr val="F2A541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97280" y="6309360"/>
            <a:ext cx="14401800" cy="1237673"/>
            <a:chOff x="0" y="0"/>
            <a:chExt cx="19202400" cy="16502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202400" cy="1650230"/>
            </a:xfrm>
            <a:custGeom>
              <a:avLst/>
              <a:gdLst/>
              <a:ahLst/>
              <a:cxnLst/>
              <a:rect r="r" b="b" t="t" l="l"/>
              <a:pathLst>
                <a:path h="165023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650230"/>
                  </a:lnTo>
                  <a:lnTo>
                    <a:pt x="0" y="16502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026" r="0" b="-15443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9202400" cy="1697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Lina María Sepúlveda Cano</a:t>
              </a:r>
            </a:p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Bloque 26 Oficina 508</a:t>
              </a:r>
            </a:p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lmsepulvec@eafit.edu.co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0972800" cy="822960"/>
            <a:chOff x="0" y="0"/>
            <a:chExt cx="146304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6304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Estructura del curso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440180"/>
            <a:ext cx="15773400" cy="685800"/>
            <a:chOff x="0" y="0"/>
            <a:chExt cx="210312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03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E7A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 orden progresivo: primero la base analítica, luego la narrativa, y al final la herramienta de visualización.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743200"/>
            <a:ext cx="5074920" cy="6035040"/>
            <a:chOff x="0" y="0"/>
            <a:chExt cx="6766560" cy="8046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66561" cy="8046720"/>
            </a:xfrm>
            <a:custGeom>
              <a:avLst/>
              <a:gdLst/>
              <a:ahLst/>
              <a:cxnLst/>
              <a:rect r="r" b="b" t="t" l="l"/>
              <a:pathLst>
                <a:path h="8046720" w="67665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620256" y="0"/>
                  </a:lnTo>
                  <a:cubicBezTo>
                    <a:pt x="6701028" y="0"/>
                    <a:pt x="6766561" y="65532"/>
                    <a:pt x="6766561" y="146304"/>
                  </a:cubicBezTo>
                  <a:lnTo>
                    <a:pt x="6766561" y="7900416"/>
                  </a:lnTo>
                  <a:cubicBezTo>
                    <a:pt x="6766561" y="7981188"/>
                    <a:pt x="6701028" y="8046720"/>
                    <a:pt x="6620256" y="8046720"/>
                  </a:cubicBezTo>
                  <a:lnTo>
                    <a:pt x="146304" y="8046720"/>
                  </a:lnTo>
                  <a:cubicBezTo>
                    <a:pt x="65532" y="8046720"/>
                    <a:pt x="0" y="7981188"/>
                    <a:pt x="0" y="7900416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743200" y="3223260"/>
            <a:ext cx="1234440" cy="1234440"/>
            <a:chOff x="0" y="0"/>
            <a:chExt cx="1645920" cy="1645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990088" y="3470148"/>
            <a:ext cx="740664" cy="740664"/>
            <a:chOff x="0" y="0"/>
            <a:chExt cx="987552" cy="987552"/>
          </a:xfrm>
        </p:grpSpPr>
        <p:sp>
          <p:nvSpPr>
            <p:cNvPr name="Freeform 13" id="13" descr="/home/claude/pptx_build/icon_database.png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8700" y="2948940"/>
            <a:ext cx="685800" cy="548640"/>
            <a:chOff x="0" y="0"/>
            <a:chExt cx="9144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2A5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7280" y="4732020"/>
            <a:ext cx="4526280" cy="685800"/>
            <a:chOff x="0" y="0"/>
            <a:chExt cx="603504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35040" cy="914400"/>
            </a:xfrm>
            <a:custGeom>
              <a:avLst/>
              <a:gdLst/>
              <a:ahLst/>
              <a:cxnLst/>
              <a:rect r="r" b="b" t="t" l="l"/>
              <a:pathLst>
                <a:path h="91440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0350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Power Query + DAX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34440" y="5987415"/>
            <a:ext cx="425196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ETL, modelo estrella, columnas vs. medidas, contexto y CALCULATE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03020" y="7886700"/>
            <a:ext cx="4114800" cy="576072"/>
            <a:chOff x="0" y="0"/>
            <a:chExt cx="5486400" cy="7680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lnTo>
                    <a:pt x="5102352" y="0"/>
                  </a:lnTo>
                  <a:cubicBezTo>
                    <a:pt x="5314442" y="0"/>
                    <a:pt x="5486400" y="171958"/>
                    <a:pt x="5486400" y="384048"/>
                  </a:cubicBezTo>
                  <a:cubicBezTo>
                    <a:pt x="5486400" y="596138"/>
                    <a:pt x="5314442" y="768096"/>
                    <a:pt x="5102352" y="768096"/>
                  </a:cubicBezTo>
                  <a:lnTo>
                    <a:pt x="384048" y="768096"/>
                  </a:ln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03020" y="7886700"/>
            <a:ext cx="4114800" cy="576072"/>
            <a:chOff x="0" y="0"/>
            <a:chExt cx="5486400" cy="7680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48640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Taller 1 · Parcial 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925312" y="5349240"/>
            <a:ext cx="425196" cy="822960"/>
            <a:chOff x="0" y="0"/>
            <a:chExt cx="566928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66928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8329" t="0" r="-198329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566928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2A54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→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377940" y="2743200"/>
            <a:ext cx="5074920" cy="6035040"/>
            <a:chOff x="0" y="0"/>
            <a:chExt cx="6766560" cy="8046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766561" cy="8046720"/>
            </a:xfrm>
            <a:custGeom>
              <a:avLst/>
              <a:gdLst/>
              <a:ahLst/>
              <a:cxnLst/>
              <a:rect r="r" b="b" t="t" l="l"/>
              <a:pathLst>
                <a:path h="8046720" w="67665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620256" y="0"/>
                  </a:lnTo>
                  <a:cubicBezTo>
                    <a:pt x="6701028" y="0"/>
                    <a:pt x="6766561" y="65532"/>
                    <a:pt x="6766561" y="146304"/>
                  </a:cubicBezTo>
                  <a:lnTo>
                    <a:pt x="6766561" y="7900416"/>
                  </a:lnTo>
                  <a:cubicBezTo>
                    <a:pt x="6766561" y="7981188"/>
                    <a:pt x="6701028" y="8046720"/>
                    <a:pt x="6620256" y="8046720"/>
                  </a:cubicBezTo>
                  <a:lnTo>
                    <a:pt x="146304" y="8046720"/>
                  </a:lnTo>
                  <a:cubicBezTo>
                    <a:pt x="65532" y="8046720"/>
                    <a:pt x="0" y="7981188"/>
                    <a:pt x="0" y="7900416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98180" y="3223260"/>
            <a:ext cx="1234440" cy="1234440"/>
            <a:chOff x="0" y="0"/>
            <a:chExt cx="1645920" cy="16459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545068" y="3470148"/>
            <a:ext cx="740664" cy="740664"/>
            <a:chOff x="0" y="0"/>
            <a:chExt cx="987552" cy="987552"/>
          </a:xfrm>
        </p:grpSpPr>
        <p:sp>
          <p:nvSpPr>
            <p:cNvPr name="Freeform 34" id="34" descr="/home/claude/pptx_build/icon_edit.png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583680" y="2948940"/>
            <a:ext cx="685800" cy="548640"/>
            <a:chOff x="0" y="0"/>
            <a:chExt cx="91440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1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14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2A5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652260" y="4732020"/>
            <a:ext cx="4526280" cy="685800"/>
            <a:chOff x="0" y="0"/>
            <a:chExt cx="603504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035040" cy="914400"/>
            </a:xfrm>
            <a:custGeom>
              <a:avLst/>
              <a:gdLst/>
              <a:ahLst/>
              <a:cxnLst/>
              <a:rect r="r" b="b" t="t" l="l"/>
              <a:pathLst>
                <a:path h="91440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60350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Storytelling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6789420" y="5987415"/>
            <a:ext cx="425196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Principios de narrativa visual y diseño de dashboards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858000" y="7886700"/>
            <a:ext cx="4114800" cy="576072"/>
            <a:chOff x="0" y="0"/>
            <a:chExt cx="5486400" cy="7680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lnTo>
                    <a:pt x="5102352" y="0"/>
                  </a:lnTo>
                  <a:cubicBezTo>
                    <a:pt x="5314442" y="0"/>
                    <a:pt x="5486400" y="171958"/>
                    <a:pt x="5486400" y="384048"/>
                  </a:cubicBezTo>
                  <a:cubicBezTo>
                    <a:pt x="5486400" y="596138"/>
                    <a:pt x="5314442" y="768096"/>
                    <a:pt x="5102352" y="768096"/>
                  </a:cubicBezTo>
                  <a:lnTo>
                    <a:pt x="384048" y="768096"/>
                  </a:ln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858000" y="7886700"/>
            <a:ext cx="4114800" cy="576072"/>
            <a:chOff x="0" y="0"/>
            <a:chExt cx="5486400" cy="7680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48640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Taller 2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480292" y="5349240"/>
            <a:ext cx="425196" cy="822960"/>
            <a:chOff x="0" y="0"/>
            <a:chExt cx="566928" cy="109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66928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8329" t="0" r="-198329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566928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2A54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→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932920" y="2743200"/>
            <a:ext cx="5074920" cy="6035040"/>
            <a:chOff x="0" y="0"/>
            <a:chExt cx="6766560" cy="80467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766561" cy="8046720"/>
            </a:xfrm>
            <a:custGeom>
              <a:avLst/>
              <a:gdLst/>
              <a:ahLst/>
              <a:cxnLst/>
              <a:rect r="r" b="b" t="t" l="l"/>
              <a:pathLst>
                <a:path h="8046720" w="67665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620256" y="0"/>
                  </a:lnTo>
                  <a:cubicBezTo>
                    <a:pt x="6701028" y="0"/>
                    <a:pt x="6766561" y="65532"/>
                    <a:pt x="6766561" y="146304"/>
                  </a:cubicBezTo>
                  <a:lnTo>
                    <a:pt x="6766561" y="7900416"/>
                  </a:lnTo>
                  <a:cubicBezTo>
                    <a:pt x="6766561" y="7981188"/>
                    <a:pt x="6701028" y="8046720"/>
                    <a:pt x="6620256" y="8046720"/>
                  </a:cubicBezTo>
                  <a:lnTo>
                    <a:pt x="146304" y="8046720"/>
                  </a:lnTo>
                  <a:cubicBezTo>
                    <a:pt x="65532" y="8046720"/>
                    <a:pt x="0" y="7981188"/>
                    <a:pt x="0" y="7900416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853160" y="3223260"/>
            <a:ext cx="1234440" cy="1234440"/>
            <a:chOff x="0" y="0"/>
            <a:chExt cx="1645920" cy="16459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100048" y="3470148"/>
            <a:ext cx="740664" cy="740664"/>
            <a:chOff x="0" y="0"/>
            <a:chExt cx="987552" cy="987552"/>
          </a:xfrm>
        </p:grpSpPr>
        <p:sp>
          <p:nvSpPr>
            <p:cNvPr name="Freeform 55" id="55" descr="/home/claude/pptx_build/icon_bar.png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138660" y="2948940"/>
            <a:ext cx="685800" cy="548640"/>
            <a:chOff x="0" y="0"/>
            <a:chExt cx="91440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14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2A5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207240" y="4732020"/>
            <a:ext cx="4526280" cy="685800"/>
            <a:chOff x="0" y="0"/>
            <a:chExt cx="6035040" cy="914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035040" cy="914400"/>
            </a:xfrm>
            <a:custGeom>
              <a:avLst/>
              <a:gdLst/>
              <a:ahLst/>
              <a:cxnLst/>
              <a:rect r="r" b="b" t="t" l="l"/>
              <a:pathLst>
                <a:path h="91440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60350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Power BI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2344400" y="5987415"/>
            <a:ext cx="425196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Modelo, visualizaciones, publicación y proyecto final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2412980" y="7886700"/>
            <a:ext cx="4114800" cy="576072"/>
            <a:chOff x="0" y="0"/>
            <a:chExt cx="5486400" cy="76809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lnTo>
                    <a:pt x="5102352" y="0"/>
                  </a:lnTo>
                  <a:cubicBezTo>
                    <a:pt x="5314442" y="0"/>
                    <a:pt x="5486400" y="171958"/>
                    <a:pt x="5486400" y="384048"/>
                  </a:cubicBezTo>
                  <a:cubicBezTo>
                    <a:pt x="5486400" y="596138"/>
                    <a:pt x="5314442" y="768096"/>
                    <a:pt x="5102352" y="768096"/>
                  </a:cubicBezTo>
                  <a:lnTo>
                    <a:pt x="384048" y="768096"/>
                  </a:ln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412980" y="7886700"/>
            <a:ext cx="4114800" cy="576072"/>
            <a:chOff x="0" y="0"/>
            <a:chExt cx="5486400" cy="76809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548640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Taller 3 · Parcial 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2057400"/>
            <a:chOff x="0" y="0"/>
            <a:chExt cx="24383390" cy="274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2743200"/>
            </a:xfrm>
            <a:custGeom>
              <a:avLst/>
              <a:gdLst/>
              <a:ahLst/>
              <a:cxnLst/>
              <a:rect r="r" b="b" t="t" l="l"/>
              <a:pathLst>
                <a:path h="27432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384048"/>
            <a:ext cx="8229600" cy="480060"/>
            <a:chOff x="0" y="0"/>
            <a:chExt cx="109728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F2A5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MÓDULO 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822960"/>
            <a:ext cx="11658600" cy="960120"/>
            <a:chOff x="0" y="0"/>
            <a:chExt cx="1554480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44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5544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Power Query + DAX / Power Pivot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2756916"/>
            <a:ext cx="301752" cy="301752"/>
            <a:chOff x="0" y="0"/>
            <a:chExt cx="402336" cy="4023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37310" y="2564892"/>
            <a:ext cx="7200900" cy="685800"/>
            <a:chOff x="0" y="0"/>
            <a:chExt cx="96012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60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Star schema, hechos y dimensiones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89720" y="2756916"/>
            <a:ext cx="301752" cy="301752"/>
            <a:chOff x="0" y="0"/>
            <a:chExt cx="402336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669780" y="2606040"/>
            <a:ext cx="7200900" cy="685800"/>
            <a:chOff x="0" y="0"/>
            <a:chExt cx="96012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60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Power Query: transformación y combinación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3607308"/>
            <a:ext cx="301752" cy="301752"/>
            <a:chOff x="0" y="0"/>
            <a:chExt cx="402336" cy="4023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03020" y="3456432"/>
            <a:ext cx="7200900" cy="685800"/>
            <a:chOff x="0" y="0"/>
            <a:chExt cx="96012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60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Modelo de datos en Power Pivot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89720" y="3607308"/>
            <a:ext cx="301752" cy="301752"/>
            <a:chOff x="0" y="0"/>
            <a:chExt cx="402336" cy="4023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69780" y="3456432"/>
            <a:ext cx="7200900" cy="685800"/>
            <a:chOff x="0" y="0"/>
            <a:chExt cx="960120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960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Columnas calculadas vs. medidas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4457700"/>
            <a:ext cx="301752" cy="301752"/>
            <a:chOff x="0" y="0"/>
            <a:chExt cx="402336" cy="40233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03020" y="4306824"/>
            <a:ext cx="7200900" cy="685800"/>
            <a:chOff x="0" y="0"/>
            <a:chExt cx="960120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60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Contexto de fila y de filtro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89720" y="4457700"/>
            <a:ext cx="301752" cy="301752"/>
            <a:chOff x="0" y="0"/>
            <a:chExt cx="402336" cy="4023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669780" y="4306824"/>
            <a:ext cx="7200900" cy="685800"/>
            <a:chOff x="0" y="0"/>
            <a:chExt cx="960120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960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CALCULATE y transición de contexto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5308092"/>
            <a:ext cx="301752" cy="301752"/>
            <a:chOff x="0" y="0"/>
            <a:chExt cx="402336" cy="40233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03020" y="5157216"/>
            <a:ext cx="7200900" cy="685800"/>
            <a:chOff x="0" y="0"/>
            <a:chExt cx="960120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960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FILTER, ALL, ALLEXCEPT, RELATED, SWITCH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189720" y="5308092"/>
            <a:ext cx="301752" cy="301752"/>
            <a:chOff x="0" y="0"/>
            <a:chExt cx="402336" cy="4023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669780" y="5157216"/>
            <a:ext cx="7200900" cy="685800"/>
            <a:chOff x="0" y="0"/>
            <a:chExt cx="960120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60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VAR/RETURN y buenas prácticas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22960" y="6158484"/>
            <a:ext cx="301752" cy="301752"/>
            <a:chOff x="0" y="0"/>
            <a:chExt cx="402336" cy="40233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03020" y="6007608"/>
            <a:ext cx="7200900" cy="685800"/>
            <a:chOff x="0" y="0"/>
            <a:chExt cx="9601200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960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DAX Studio: EVALUATE, SUMMARIZECOLUMNS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189720" y="6158484"/>
            <a:ext cx="301752" cy="301752"/>
            <a:chOff x="0" y="0"/>
            <a:chExt cx="402336" cy="40233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669780" y="6007608"/>
            <a:ext cx="7200900" cy="685800"/>
            <a:chOff x="0" y="0"/>
            <a:chExt cx="9601200" cy="914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960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YoY con DATEADD y tablas de fechas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22960" y="8983980"/>
            <a:ext cx="16637508" cy="850392"/>
            <a:chOff x="0" y="0"/>
            <a:chExt cx="22183344" cy="113385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183344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334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2000463" y="0"/>
                  </a:lnTo>
                  <a:cubicBezTo>
                    <a:pt x="22101428" y="0"/>
                    <a:pt x="22183344" y="81915"/>
                    <a:pt x="22183344" y="182880"/>
                  </a:cubicBezTo>
                  <a:lnTo>
                    <a:pt x="22183344" y="950976"/>
                  </a:lnTo>
                  <a:cubicBezTo>
                    <a:pt x="22183344" y="1051941"/>
                    <a:pt x="22101428" y="1133856"/>
                    <a:pt x="22000463" y="1133856"/>
                  </a:cubicBezTo>
                  <a:lnTo>
                    <a:pt x="182880" y="1133856"/>
                  </a:lnTo>
                  <a:cubicBezTo>
                    <a:pt x="81915" y="1133856"/>
                    <a:pt x="0" y="1051941"/>
                    <a:pt x="0" y="950976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97280" y="9107424"/>
            <a:ext cx="576072" cy="576072"/>
            <a:chOff x="0" y="0"/>
            <a:chExt cx="768096" cy="768096"/>
          </a:xfrm>
        </p:grpSpPr>
        <p:sp>
          <p:nvSpPr>
            <p:cNvPr name="Freeform 63" id="63" descr="/home/claude/pptx_build/icon_check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851660" y="8983980"/>
            <a:ext cx="15361920" cy="850392"/>
            <a:chOff x="0" y="0"/>
            <a:chExt cx="20482560" cy="11338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0482561" cy="1133856"/>
            </a:xfrm>
            <a:custGeom>
              <a:avLst/>
              <a:gdLst/>
              <a:ahLst/>
              <a:cxnLst/>
              <a:rect r="r" b="b" t="t" l="l"/>
              <a:pathLst>
                <a:path h="1133856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987" r="0" b="-30198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2048256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Taller 1 (5%) — Power Query   ·   Parcial 1 (20%) — DAX / Power Pivot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2057400"/>
            <a:chOff x="0" y="0"/>
            <a:chExt cx="24383390" cy="274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2743200"/>
            </a:xfrm>
            <a:custGeom>
              <a:avLst/>
              <a:gdLst/>
              <a:ahLst/>
              <a:cxnLst/>
              <a:rect r="r" b="b" t="t" l="l"/>
              <a:pathLst>
                <a:path h="27432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384048"/>
            <a:ext cx="8229600" cy="480060"/>
            <a:chOff x="0" y="0"/>
            <a:chExt cx="109728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F2A5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MÓDULO B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822960"/>
            <a:ext cx="11658600" cy="960120"/>
            <a:chOff x="0" y="0"/>
            <a:chExt cx="1554480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44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5544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Storytelling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2756916"/>
            <a:ext cx="301752" cy="301752"/>
            <a:chOff x="0" y="0"/>
            <a:chExt cx="402336" cy="4023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03020" y="2606040"/>
            <a:ext cx="7200900" cy="685800"/>
            <a:chOff x="0" y="0"/>
            <a:chExt cx="96012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60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Principios de storytelling con datos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89720" y="2756916"/>
            <a:ext cx="301752" cy="301752"/>
            <a:chOff x="0" y="0"/>
            <a:chExt cx="402336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669780" y="2606040"/>
            <a:ext cx="7200900" cy="685800"/>
            <a:chOff x="0" y="0"/>
            <a:chExt cx="96012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60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Jerarquía visual en dashboards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3607308"/>
            <a:ext cx="301752" cy="301752"/>
            <a:chOff x="0" y="0"/>
            <a:chExt cx="402336" cy="4023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03020" y="3456432"/>
            <a:ext cx="7200900" cy="685800"/>
            <a:chOff x="0" y="0"/>
            <a:chExt cx="96012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60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Selección de gráficos y errores comunes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89720" y="3607308"/>
            <a:ext cx="301752" cy="301752"/>
            <a:chOff x="0" y="0"/>
            <a:chExt cx="402336" cy="4023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69780" y="3456432"/>
            <a:ext cx="7200900" cy="685800"/>
            <a:chOff x="0" y="0"/>
            <a:chExt cx="960120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960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Narrativa según la audiencia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4457700"/>
            <a:ext cx="301752" cy="301752"/>
            <a:chOff x="0" y="0"/>
            <a:chExt cx="402336" cy="40233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03020" y="4306824"/>
            <a:ext cx="7200900" cy="685800"/>
            <a:chOff x="0" y="0"/>
            <a:chExt cx="960120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60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Boceto de dashboard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89720" y="4457700"/>
            <a:ext cx="301752" cy="301752"/>
            <a:chOff x="0" y="0"/>
            <a:chExt cx="402336" cy="4023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669780" y="4306824"/>
            <a:ext cx="7200900" cy="685800"/>
            <a:chOff x="0" y="0"/>
            <a:chExt cx="960120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960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Retroalimentación y ajustes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8983980"/>
            <a:ext cx="16637508" cy="850392"/>
            <a:chOff x="0" y="0"/>
            <a:chExt cx="22183344" cy="11338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183344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334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2000463" y="0"/>
                  </a:lnTo>
                  <a:cubicBezTo>
                    <a:pt x="22101428" y="0"/>
                    <a:pt x="22183344" y="81915"/>
                    <a:pt x="22183344" y="182880"/>
                  </a:cubicBezTo>
                  <a:lnTo>
                    <a:pt x="22183344" y="950976"/>
                  </a:lnTo>
                  <a:cubicBezTo>
                    <a:pt x="22183344" y="1051941"/>
                    <a:pt x="22101428" y="1133856"/>
                    <a:pt x="22000463" y="1133856"/>
                  </a:cubicBezTo>
                  <a:lnTo>
                    <a:pt x="182880" y="1133856"/>
                  </a:lnTo>
                  <a:cubicBezTo>
                    <a:pt x="81915" y="1133856"/>
                    <a:pt x="0" y="1051941"/>
                    <a:pt x="0" y="950976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97280" y="9107424"/>
            <a:ext cx="576072" cy="576072"/>
            <a:chOff x="0" y="0"/>
            <a:chExt cx="768096" cy="768096"/>
          </a:xfrm>
        </p:grpSpPr>
        <p:sp>
          <p:nvSpPr>
            <p:cNvPr name="Freeform 43" id="43" descr="/home/claude/pptx_build/icon_check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851660" y="8983980"/>
            <a:ext cx="15361920" cy="850392"/>
            <a:chOff x="0" y="0"/>
            <a:chExt cx="20482560" cy="11338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482561" cy="1133856"/>
            </a:xfrm>
            <a:custGeom>
              <a:avLst/>
              <a:gdLst/>
              <a:ahLst/>
              <a:cxnLst/>
              <a:rect r="r" b="b" t="t" l="l"/>
              <a:pathLst>
                <a:path h="1133856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987" r="0" b="-30198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048256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Taller 2 (5%) — Diseño de dashboard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2057400"/>
            <a:chOff x="0" y="0"/>
            <a:chExt cx="24383390" cy="274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2743200"/>
            </a:xfrm>
            <a:custGeom>
              <a:avLst/>
              <a:gdLst/>
              <a:ahLst/>
              <a:cxnLst/>
              <a:rect r="r" b="b" t="t" l="l"/>
              <a:pathLst>
                <a:path h="27432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384048"/>
            <a:ext cx="8229600" cy="480060"/>
            <a:chOff x="0" y="0"/>
            <a:chExt cx="109728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F2A5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MÓDULO C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822960"/>
            <a:ext cx="11658600" cy="960120"/>
            <a:chOff x="0" y="0"/>
            <a:chExt cx="1554480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44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5544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Power BI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755880" y="754380"/>
            <a:ext cx="4663440" cy="822960"/>
            <a:chOff x="0" y="0"/>
            <a:chExt cx="621792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17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621792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40"/>
                </a:lnSpc>
              </a:pPr>
              <a:r>
                <a:rPr lang="en-US" sz="195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 sesiones  ·  sep 29 – nov 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2756916"/>
            <a:ext cx="301752" cy="301752"/>
            <a:chOff x="0" y="0"/>
            <a:chExt cx="402336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03020" y="2606040"/>
            <a:ext cx="7200900" cy="685800"/>
            <a:chOff x="0" y="0"/>
            <a:chExt cx="960120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960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Power BI Desktop: interfaz y conexión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89720" y="2756916"/>
            <a:ext cx="301752" cy="301752"/>
            <a:chOff x="0" y="0"/>
            <a:chExt cx="402336" cy="402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669780" y="2606040"/>
            <a:ext cx="7200900" cy="685800"/>
            <a:chOff x="0" y="0"/>
            <a:chExt cx="96012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60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Modelo de datos en Power BI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3607308"/>
            <a:ext cx="301752" cy="301752"/>
            <a:chOff x="0" y="0"/>
            <a:chExt cx="402336" cy="4023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03020" y="3456432"/>
            <a:ext cx="7200900" cy="685800"/>
            <a:chOff x="0" y="0"/>
            <a:chExt cx="960120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960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Reutilización de medidas DAX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89720" y="3607308"/>
            <a:ext cx="301752" cy="301752"/>
            <a:chOff x="0" y="0"/>
            <a:chExt cx="402336" cy="40233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669780" y="3456432"/>
            <a:ext cx="7200900" cy="685800"/>
            <a:chOff x="0" y="0"/>
            <a:chExt cx="960120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960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Visualizaciones y formato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4457700"/>
            <a:ext cx="301752" cy="301752"/>
            <a:chOff x="0" y="0"/>
            <a:chExt cx="402336" cy="4023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03020" y="4306824"/>
            <a:ext cx="7200900" cy="685800"/>
            <a:chOff x="0" y="0"/>
            <a:chExt cx="9601200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60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Segmentadores y drill-through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89720" y="4457700"/>
            <a:ext cx="301752" cy="301752"/>
            <a:chOff x="0" y="0"/>
            <a:chExt cx="402336" cy="4023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669780" y="4306824"/>
            <a:ext cx="7200900" cy="685800"/>
            <a:chOff x="0" y="0"/>
            <a:chExt cx="960120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960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Publicación y actualización de datos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22960" y="5308092"/>
            <a:ext cx="301752" cy="301752"/>
            <a:chOff x="0" y="0"/>
            <a:chExt cx="402336" cy="4023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303020" y="5157216"/>
            <a:ext cx="7200900" cy="685800"/>
            <a:chOff x="0" y="0"/>
            <a:chExt cx="9601200" cy="914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960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Repaso general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189720" y="5308092"/>
            <a:ext cx="301752" cy="301752"/>
            <a:chOff x="0" y="0"/>
            <a:chExt cx="402336" cy="4023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669780" y="5157216"/>
            <a:ext cx="7200900" cy="685800"/>
            <a:chOff x="0" y="0"/>
            <a:chExt cx="960120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960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Consultoría de proyecto final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22960" y="8983980"/>
            <a:ext cx="16637508" cy="850392"/>
            <a:chOff x="0" y="0"/>
            <a:chExt cx="22183344" cy="113385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183344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334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2000463" y="0"/>
                  </a:lnTo>
                  <a:cubicBezTo>
                    <a:pt x="22101428" y="0"/>
                    <a:pt x="22183344" y="81915"/>
                    <a:pt x="22183344" y="182880"/>
                  </a:cubicBezTo>
                  <a:lnTo>
                    <a:pt x="22183344" y="950976"/>
                  </a:lnTo>
                  <a:cubicBezTo>
                    <a:pt x="22183344" y="1051941"/>
                    <a:pt x="22101428" y="1133856"/>
                    <a:pt x="22000463" y="1133856"/>
                  </a:cubicBezTo>
                  <a:lnTo>
                    <a:pt x="182880" y="1133856"/>
                  </a:lnTo>
                  <a:cubicBezTo>
                    <a:pt x="81915" y="1133856"/>
                    <a:pt x="0" y="1051941"/>
                    <a:pt x="0" y="950976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97280" y="9107424"/>
            <a:ext cx="576072" cy="576072"/>
            <a:chOff x="0" y="0"/>
            <a:chExt cx="768096" cy="768096"/>
          </a:xfrm>
        </p:grpSpPr>
        <p:sp>
          <p:nvSpPr>
            <p:cNvPr name="Freeform 56" id="56" descr="/home/claude/pptx_build/icon_check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851660" y="8983980"/>
            <a:ext cx="15361920" cy="850392"/>
            <a:chOff x="0" y="0"/>
            <a:chExt cx="20482560" cy="11338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482561" cy="1133856"/>
            </a:xfrm>
            <a:custGeom>
              <a:avLst/>
              <a:gdLst/>
              <a:ahLst/>
              <a:cxnLst/>
              <a:rect r="r" b="b" t="t" l="l"/>
              <a:pathLst>
                <a:path h="1133856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987" r="0" b="-30198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2048256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Taller 3 (5%) — Power BI   ·   Parcial 2 (20%) — Power BI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1682" y="-529095"/>
            <a:ext cx="13716000" cy="3516209"/>
            <a:chOff x="0" y="0"/>
            <a:chExt cx="18288000" cy="46882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4688279"/>
            </a:xfrm>
            <a:custGeom>
              <a:avLst/>
              <a:gdLst/>
              <a:ahLst/>
              <a:cxnLst/>
              <a:rect r="r" b="b" t="t" l="l"/>
              <a:pathLst>
                <a:path h="4688279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688279"/>
                  </a:lnTo>
                  <a:lnTo>
                    <a:pt x="0" y="46882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304" r="0" b="1229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8288000" cy="4697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799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Fechas clave del semestre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10560" y="548640"/>
            <a:ext cx="960120" cy="960120"/>
            <a:chOff x="0" y="0"/>
            <a:chExt cx="1280160" cy="1280160"/>
          </a:xfrm>
        </p:grpSpPr>
        <p:sp>
          <p:nvSpPr>
            <p:cNvPr name="Freeform 6" id="6" descr="/home/claude/pptx_build/icon_calendar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841980" y="480060"/>
            <a:ext cx="1097280" cy="1097280"/>
            <a:chOff x="0" y="0"/>
            <a:chExt cx="146304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020288" y="658368"/>
            <a:ext cx="740664" cy="740664"/>
            <a:chOff x="0" y="0"/>
            <a:chExt cx="987552" cy="987552"/>
          </a:xfrm>
        </p:grpSpPr>
        <p:sp>
          <p:nvSpPr>
            <p:cNvPr name="Freeform 10" id="10" descr="/home/claude/pptx_build/icon_calendar.png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96340" y="4076700"/>
            <a:ext cx="15849600" cy="76200"/>
            <a:chOff x="0" y="0"/>
            <a:chExt cx="21132800" cy="101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132800" cy="101600"/>
            </a:xfrm>
            <a:custGeom>
              <a:avLst/>
              <a:gdLst/>
              <a:ahLst/>
              <a:cxnLst/>
              <a:rect r="r" b="b" t="t" l="l"/>
              <a:pathLst>
                <a:path h="101600" w="21132800">
                  <a:moveTo>
                    <a:pt x="0" y="0"/>
                  </a:moveTo>
                  <a:lnTo>
                    <a:pt x="21132800" y="1016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002887" r="0" b="-4002887"/>
              </a:stretch>
            </a:blipFill>
            <a:ln w="76200" cap="sq">
              <a:solidFill>
                <a:srgbClr val="CADCFC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96708" y="3977069"/>
            <a:ext cx="275463" cy="275463"/>
            <a:chOff x="0" y="0"/>
            <a:chExt cx="367284" cy="3672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7284" cy="367284"/>
            </a:xfrm>
            <a:custGeom>
              <a:avLst/>
              <a:gdLst/>
              <a:ahLst/>
              <a:cxnLst/>
              <a:rect r="r" b="b" t="t" l="l"/>
              <a:pathLst>
                <a:path h="367284" w="367284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cubicBezTo>
                    <a:pt x="285115" y="0"/>
                    <a:pt x="367284" y="82169"/>
                    <a:pt x="367284" y="183642"/>
                  </a:cubicBezTo>
                  <a:cubicBezTo>
                    <a:pt x="367284" y="285115"/>
                    <a:pt x="285115" y="367284"/>
                    <a:pt x="183642" y="367284"/>
                  </a:cubicBezTo>
                  <a:cubicBezTo>
                    <a:pt x="82169" y="367284"/>
                    <a:pt x="0" y="285115"/>
                    <a:pt x="0" y="183642"/>
                  </a:cubicBezTo>
                  <a:close/>
                </a:path>
              </a:pathLst>
            </a:custGeom>
            <a:solidFill>
              <a:srgbClr val="1E2761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0" y="3086100"/>
            <a:ext cx="2468880" cy="480060"/>
            <a:chOff x="0" y="0"/>
            <a:chExt cx="3291840" cy="640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91840" cy="640080"/>
            </a:xfrm>
            <a:custGeom>
              <a:avLst/>
              <a:gdLst/>
              <a:ahLst/>
              <a:cxnLst/>
              <a:rect r="r" b="b" t="t" l="l"/>
              <a:pathLst>
                <a:path h="6400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2918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9"/>
                </a:lnSpc>
              </a:pPr>
              <a:r>
                <a:rPr lang="en-US" sz="2249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jul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0" y="2331720"/>
            <a:ext cx="2468880" cy="822960"/>
            <a:chOff x="0" y="0"/>
            <a:chExt cx="3291840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91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2918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49"/>
                </a:lnSpc>
              </a:pPr>
              <a:r>
                <a:rPr lang="en-US" sz="1874">
                  <a:solidFill>
                    <a:srgbClr val="6E7A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Inicio de clases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24915" y="3556635"/>
            <a:ext cx="19050" cy="567690"/>
            <a:chOff x="0" y="0"/>
            <a:chExt cx="25400" cy="756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400" cy="756920"/>
            </a:xfrm>
            <a:custGeom>
              <a:avLst/>
              <a:gdLst/>
              <a:ahLst/>
              <a:cxnLst/>
              <a:rect r="r" b="b" t="t" l="l"/>
              <a:pathLst>
                <a:path h="756920" w="25400">
                  <a:moveTo>
                    <a:pt x="0" y="0"/>
                  </a:moveTo>
                  <a:lnTo>
                    <a:pt x="25400" y="75692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773446" t="0" r="-3773446" b="0"/>
              </a:stretch>
            </a:blipFill>
            <a:ln w="19050" cap="sq">
              <a:solidFill>
                <a:srgbClr val="1E2761"/>
              </a:solidFill>
              <a:prstDash val="dash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5040058" y="3977069"/>
            <a:ext cx="275463" cy="275463"/>
            <a:chOff x="0" y="0"/>
            <a:chExt cx="367284" cy="3672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7284" cy="367284"/>
            </a:xfrm>
            <a:custGeom>
              <a:avLst/>
              <a:gdLst/>
              <a:ahLst/>
              <a:cxnLst/>
              <a:rect r="r" b="b" t="t" l="l"/>
              <a:pathLst>
                <a:path h="367284" w="367284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cubicBezTo>
                    <a:pt x="285115" y="0"/>
                    <a:pt x="367284" y="82169"/>
                    <a:pt x="367284" y="183642"/>
                  </a:cubicBezTo>
                  <a:cubicBezTo>
                    <a:pt x="367284" y="285115"/>
                    <a:pt x="285115" y="367284"/>
                    <a:pt x="183642" y="367284"/>
                  </a:cubicBezTo>
                  <a:cubicBezTo>
                    <a:pt x="82169" y="367284"/>
                    <a:pt x="0" y="285115"/>
                    <a:pt x="0" y="183642"/>
                  </a:cubicBezTo>
                  <a:close/>
                </a:path>
              </a:pathLst>
            </a:custGeom>
            <a:solidFill>
              <a:srgbClr val="F2A541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3943350" y="4594860"/>
            <a:ext cx="2468880" cy="480060"/>
            <a:chOff x="0" y="0"/>
            <a:chExt cx="3291840" cy="640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91840" cy="640080"/>
            </a:xfrm>
            <a:custGeom>
              <a:avLst/>
              <a:gdLst/>
              <a:ahLst/>
              <a:cxnLst/>
              <a:rect r="r" b="b" t="t" l="l"/>
              <a:pathLst>
                <a:path h="6400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32918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9"/>
                </a:lnSpc>
              </a:pPr>
              <a:r>
                <a:rPr lang="en-US" sz="2249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oct (jue)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943350" y="5074920"/>
            <a:ext cx="2468880" cy="822960"/>
            <a:chOff x="0" y="0"/>
            <a:chExt cx="329184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91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2918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49"/>
                </a:lnSpc>
              </a:pPr>
              <a:r>
                <a:rPr lang="en-US" sz="1874">
                  <a:solidFill>
                    <a:srgbClr val="6E7A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Semana universitaria</a:t>
              </a:r>
            </a:p>
            <a:p>
              <a:pPr algn="ctr">
                <a:lnSpc>
                  <a:spcPts val="2249"/>
                </a:lnSpc>
              </a:pPr>
              <a:r>
                <a:rPr lang="en-US" sz="1874">
                  <a:solidFill>
                    <a:srgbClr val="6E7A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evaluar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168265" y="4105275"/>
            <a:ext cx="19050" cy="499110"/>
            <a:chOff x="0" y="0"/>
            <a:chExt cx="25400" cy="6654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400" cy="665480"/>
            </a:xfrm>
            <a:custGeom>
              <a:avLst/>
              <a:gdLst/>
              <a:ahLst/>
              <a:cxnLst/>
              <a:rect r="r" b="b" t="t" l="l"/>
              <a:pathLst>
                <a:path h="665480" w="25400">
                  <a:moveTo>
                    <a:pt x="0" y="0"/>
                  </a:moveTo>
                  <a:lnTo>
                    <a:pt x="25400" y="66548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311553" t="0" r="-3311553" b="0"/>
              </a:stretch>
            </a:blipFill>
            <a:ln w="19050" cap="sq">
              <a:solidFill>
                <a:srgbClr val="F2A541"/>
              </a:solidFill>
              <a:prstDash val="dash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983408" y="3977069"/>
            <a:ext cx="275463" cy="275463"/>
            <a:chOff x="0" y="0"/>
            <a:chExt cx="367284" cy="36728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7284" cy="367284"/>
            </a:xfrm>
            <a:custGeom>
              <a:avLst/>
              <a:gdLst/>
              <a:ahLst/>
              <a:cxnLst/>
              <a:rect r="r" b="b" t="t" l="l"/>
              <a:pathLst>
                <a:path h="367284" w="367284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cubicBezTo>
                    <a:pt x="285115" y="0"/>
                    <a:pt x="367284" y="82169"/>
                    <a:pt x="367284" y="183642"/>
                  </a:cubicBezTo>
                  <a:cubicBezTo>
                    <a:pt x="367284" y="285115"/>
                    <a:pt x="285115" y="367284"/>
                    <a:pt x="183642" y="367284"/>
                  </a:cubicBezTo>
                  <a:cubicBezTo>
                    <a:pt x="82169" y="367284"/>
                    <a:pt x="0" y="285115"/>
                    <a:pt x="0" y="183642"/>
                  </a:cubicBezTo>
                  <a:close/>
                </a:path>
              </a:pathLst>
            </a:custGeom>
            <a:solidFill>
              <a:srgbClr val="C0392B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7886700" y="3086100"/>
            <a:ext cx="2468880" cy="480060"/>
            <a:chOff x="0" y="0"/>
            <a:chExt cx="3291840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291840" cy="640080"/>
            </a:xfrm>
            <a:custGeom>
              <a:avLst/>
              <a:gdLst/>
              <a:ahLst/>
              <a:cxnLst/>
              <a:rect r="r" b="b" t="t" l="l"/>
              <a:pathLst>
                <a:path h="6400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32918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9"/>
                </a:lnSpc>
              </a:pPr>
              <a:r>
                <a:rPr lang="en-US" sz="2249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5–11 oct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886700" y="2331720"/>
            <a:ext cx="2468880" cy="822960"/>
            <a:chOff x="0" y="0"/>
            <a:chExt cx="329184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291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32918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49"/>
                </a:lnSpc>
              </a:pPr>
              <a:r>
                <a:rPr lang="en-US" sz="1874">
                  <a:solidFill>
                    <a:srgbClr val="6E7A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Semana de receso</a:t>
              </a:r>
            </a:p>
            <a:p>
              <a:pPr algn="ctr">
                <a:lnSpc>
                  <a:spcPts val="2249"/>
                </a:lnSpc>
              </a:pPr>
              <a:r>
                <a:rPr lang="en-US" sz="1874">
                  <a:solidFill>
                    <a:srgbClr val="6E7A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sin clase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11615" y="3556635"/>
            <a:ext cx="19050" cy="567690"/>
            <a:chOff x="0" y="0"/>
            <a:chExt cx="25400" cy="7569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5400" cy="756920"/>
            </a:xfrm>
            <a:custGeom>
              <a:avLst/>
              <a:gdLst/>
              <a:ahLst/>
              <a:cxnLst/>
              <a:rect r="r" b="b" t="t" l="l"/>
              <a:pathLst>
                <a:path h="756920" w="25400">
                  <a:moveTo>
                    <a:pt x="0" y="0"/>
                  </a:moveTo>
                  <a:lnTo>
                    <a:pt x="25400" y="75692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773446" t="0" r="-3773446" b="0"/>
              </a:stretch>
            </a:blipFill>
            <a:ln w="19050" cap="sq">
              <a:solidFill>
                <a:srgbClr val="C0392B"/>
              </a:solidFill>
              <a:prstDash val="dash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926758" y="3977069"/>
            <a:ext cx="275463" cy="275463"/>
            <a:chOff x="0" y="0"/>
            <a:chExt cx="367284" cy="36728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7284" cy="367284"/>
            </a:xfrm>
            <a:custGeom>
              <a:avLst/>
              <a:gdLst/>
              <a:ahLst/>
              <a:cxnLst/>
              <a:rect r="r" b="b" t="t" l="l"/>
              <a:pathLst>
                <a:path h="367284" w="367284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cubicBezTo>
                    <a:pt x="285115" y="0"/>
                    <a:pt x="367284" y="82169"/>
                    <a:pt x="367284" y="183642"/>
                  </a:cubicBezTo>
                  <a:cubicBezTo>
                    <a:pt x="367284" y="285115"/>
                    <a:pt x="285115" y="367284"/>
                    <a:pt x="183642" y="367284"/>
                  </a:cubicBezTo>
                  <a:cubicBezTo>
                    <a:pt x="82169" y="367284"/>
                    <a:pt x="0" y="285115"/>
                    <a:pt x="0" y="183642"/>
                  </a:cubicBezTo>
                  <a:close/>
                </a:path>
              </a:pathLst>
            </a:custGeom>
            <a:solidFill>
              <a:srgbClr val="1E2761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1830050" y="4594860"/>
            <a:ext cx="2468880" cy="480060"/>
            <a:chOff x="0" y="0"/>
            <a:chExt cx="3291840" cy="6400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291840" cy="640080"/>
            </a:xfrm>
            <a:custGeom>
              <a:avLst/>
              <a:gdLst/>
              <a:ahLst/>
              <a:cxnLst/>
              <a:rect r="r" b="b" t="t" l="l"/>
              <a:pathLst>
                <a:path h="6400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32918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9"/>
                </a:lnSpc>
              </a:pPr>
              <a:r>
                <a:rPr lang="en-US" sz="2249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nov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830050" y="5074920"/>
            <a:ext cx="2468880" cy="822960"/>
            <a:chOff x="0" y="0"/>
            <a:chExt cx="3291840" cy="10972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291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32918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49"/>
                </a:lnSpc>
              </a:pPr>
              <a:r>
                <a:rPr lang="en-US" sz="1874">
                  <a:solidFill>
                    <a:srgbClr val="6E7A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 de clases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054965" y="4105275"/>
            <a:ext cx="19050" cy="499110"/>
            <a:chOff x="0" y="0"/>
            <a:chExt cx="25400" cy="6654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5400" cy="665480"/>
            </a:xfrm>
            <a:custGeom>
              <a:avLst/>
              <a:gdLst/>
              <a:ahLst/>
              <a:cxnLst/>
              <a:rect r="r" b="b" t="t" l="l"/>
              <a:pathLst>
                <a:path h="665480" w="25400">
                  <a:moveTo>
                    <a:pt x="0" y="0"/>
                  </a:moveTo>
                  <a:lnTo>
                    <a:pt x="25400" y="66548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311553" t="0" r="-3311553" b="0"/>
              </a:stretch>
            </a:blipFill>
            <a:ln w="19050" cap="sq">
              <a:solidFill>
                <a:srgbClr val="1E2761"/>
              </a:solidFill>
              <a:prstDash val="dash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6870108" y="3977069"/>
            <a:ext cx="275463" cy="275463"/>
            <a:chOff x="0" y="0"/>
            <a:chExt cx="367284" cy="3672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7284" cy="367284"/>
            </a:xfrm>
            <a:custGeom>
              <a:avLst/>
              <a:gdLst/>
              <a:ahLst/>
              <a:cxnLst/>
              <a:rect r="r" b="b" t="t" l="l"/>
              <a:pathLst>
                <a:path h="367284" w="367284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cubicBezTo>
                    <a:pt x="285115" y="0"/>
                    <a:pt x="367284" y="82169"/>
                    <a:pt x="367284" y="183642"/>
                  </a:cubicBezTo>
                  <a:cubicBezTo>
                    <a:pt x="367284" y="285115"/>
                    <a:pt x="285115" y="367284"/>
                    <a:pt x="183642" y="367284"/>
                  </a:cubicBezTo>
                  <a:cubicBezTo>
                    <a:pt x="82169" y="367284"/>
                    <a:pt x="0" y="285115"/>
                    <a:pt x="0" y="183642"/>
                  </a:cubicBezTo>
                  <a:close/>
                </a:path>
              </a:pathLst>
            </a:custGeom>
            <a:solidFill>
              <a:srgbClr val="1E2761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5773400" y="3086100"/>
            <a:ext cx="2468880" cy="480060"/>
            <a:chOff x="0" y="0"/>
            <a:chExt cx="3291840" cy="6400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291840" cy="640080"/>
            </a:xfrm>
            <a:custGeom>
              <a:avLst/>
              <a:gdLst/>
              <a:ahLst/>
              <a:cxnLst/>
              <a:rect r="r" b="b" t="t" l="l"/>
              <a:pathLst>
                <a:path h="6400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32918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9"/>
                </a:lnSpc>
              </a:pPr>
              <a:r>
                <a:rPr lang="en-US" sz="2249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9–21 nov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5773400" y="2331720"/>
            <a:ext cx="2468880" cy="822960"/>
            <a:chOff x="0" y="0"/>
            <a:chExt cx="3291840" cy="10972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291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32918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49"/>
                </a:lnSpc>
              </a:pPr>
              <a:r>
                <a:rPr lang="en-US" sz="1874">
                  <a:solidFill>
                    <a:srgbClr val="6E7A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Evaluaciones finales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6998315" y="3556635"/>
            <a:ext cx="19050" cy="567690"/>
            <a:chOff x="0" y="0"/>
            <a:chExt cx="25400" cy="7569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5400" cy="756920"/>
            </a:xfrm>
            <a:custGeom>
              <a:avLst/>
              <a:gdLst/>
              <a:ahLst/>
              <a:cxnLst/>
              <a:rect r="r" b="b" t="t" l="l"/>
              <a:pathLst>
                <a:path h="756920" w="25400">
                  <a:moveTo>
                    <a:pt x="0" y="0"/>
                  </a:moveTo>
                  <a:lnTo>
                    <a:pt x="25400" y="75692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773446" t="0" r="-3773446" b="0"/>
              </a:stretch>
            </a:blipFill>
            <a:ln w="19050" cap="sq">
              <a:solidFill>
                <a:srgbClr val="1E2761"/>
              </a:solidFill>
              <a:prstDash val="dash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822960" y="7955280"/>
            <a:ext cx="16596360" cy="1577340"/>
            <a:chOff x="0" y="0"/>
            <a:chExt cx="22128480" cy="21031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12848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1956816"/>
                  </a:lnTo>
                  <a:cubicBezTo>
                    <a:pt x="22128480" y="2037588"/>
                    <a:pt x="22062948" y="2103120"/>
                    <a:pt x="21982176" y="2103120"/>
                  </a:cubicBezTo>
                  <a:lnTo>
                    <a:pt x="146304" y="2103120"/>
                  </a:lnTo>
                  <a:cubicBezTo>
                    <a:pt x="65532" y="2103120"/>
                    <a:pt x="0" y="2037588"/>
                    <a:pt x="0" y="1956816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34440" y="8572500"/>
            <a:ext cx="15773400" cy="685800"/>
            <a:chOff x="0" y="0"/>
            <a:chExt cx="21031200" cy="914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03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2103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Únicas excepciones al calendario regular: </a:t>
              </a:r>
              <a:r>
                <a:rPr lang="en-US" sz="2174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semana de receso (sin clase) y jueves de semana universitaria (sin evaluación).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4401800" cy="822960"/>
            <a:chOff x="0" y="0"/>
            <a:chExt cx="192024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02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92024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Evaluación y reportes institucionales</a:t>
              </a: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2296" y="1110996"/>
            <a:ext cx="8887968" cy="8887968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8915400" y="1851660"/>
            <a:ext cx="8503920" cy="3223260"/>
            <a:chOff x="0" y="0"/>
            <a:chExt cx="11338560" cy="4297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38561" cy="4297680"/>
            </a:xfrm>
            <a:custGeom>
              <a:avLst/>
              <a:gdLst/>
              <a:ahLst/>
              <a:cxnLst/>
              <a:rect r="r" b="b" t="t" l="l"/>
              <a:pathLst>
                <a:path h="4297680" w="113385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192256" y="0"/>
                  </a:lnTo>
                  <a:cubicBezTo>
                    <a:pt x="11273028" y="0"/>
                    <a:pt x="11338561" y="65532"/>
                    <a:pt x="11338561" y="146304"/>
                  </a:cubicBezTo>
                  <a:lnTo>
                    <a:pt x="11338561" y="4151376"/>
                  </a:lnTo>
                  <a:cubicBezTo>
                    <a:pt x="11338561" y="4232148"/>
                    <a:pt x="11273028" y="4297680"/>
                    <a:pt x="11192256" y="4297680"/>
                  </a:cubicBezTo>
                  <a:lnTo>
                    <a:pt x="146304" y="4297680"/>
                  </a:lnTo>
                  <a:cubicBezTo>
                    <a:pt x="65532" y="4297680"/>
                    <a:pt x="0" y="4232148"/>
                    <a:pt x="0" y="4151376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26880" y="2125980"/>
            <a:ext cx="7680960" cy="548640"/>
            <a:chOff x="0" y="0"/>
            <a:chExt cx="10241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2412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Reporte 70% — 4 de noviembre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26880" y="2674620"/>
            <a:ext cx="7680960" cy="2057400"/>
            <a:chOff x="0" y="0"/>
            <a:chExt cx="10241280" cy="2743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12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44" r="0" b="-2274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241280" cy="2781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9"/>
                </a:lnSpc>
              </a:pPr>
              <a:r>
                <a:rPr lang="en-US" sz="2074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Talleres (15%) + Parciales (40%) + Asistencia (15%) = 70%</a:t>
              </a:r>
            </a:p>
            <a:p>
              <a:pPr algn="l">
                <a:lnSpc>
                  <a:spcPts val="248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15400" y="5417820"/>
            <a:ext cx="8503920" cy="3223260"/>
            <a:chOff x="0" y="0"/>
            <a:chExt cx="11338560" cy="4297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338561" cy="4297680"/>
            </a:xfrm>
            <a:custGeom>
              <a:avLst/>
              <a:gdLst/>
              <a:ahLst/>
              <a:cxnLst/>
              <a:rect r="r" b="b" t="t" l="l"/>
              <a:pathLst>
                <a:path h="4297680" w="113385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192256" y="0"/>
                  </a:lnTo>
                  <a:cubicBezTo>
                    <a:pt x="11273028" y="0"/>
                    <a:pt x="11338561" y="65532"/>
                    <a:pt x="11338561" y="146304"/>
                  </a:cubicBezTo>
                  <a:lnTo>
                    <a:pt x="11338561" y="4151376"/>
                  </a:lnTo>
                  <a:cubicBezTo>
                    <a:pt x="11338561" y="4232148"/>
                    <a:pt x="11273028" y="4297680"/>
                    <a:pt x="11192256" y="4297680"/>
                  </a:cubicBezTo>
                  <a:lnTo>
                    <a:pt x="146304" y="4297680"/>
                  </a:lnTo>
                  <a:cubicBezTo>
                    <a:pt x="65532" y="4297680"/>
                    <a:pt x="0" y="4232148"/>
                    <a:pt x="0" y="415137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326880" y="5692140"/>
            <a:ext cx="7680960" cy="548640"/>
            <a:chOff x="0" y="0"/>
            <a:chExt cx="1024128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02412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2A5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Reporte 100% — 24 de noviembre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326880" y="6309360"/>
            <a:ext cx="7680960" cy="2057400"/>
            <a:chOff x="0" y="0"/>
            <a:chExt cx="10241280" cy="274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412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44" r="0" b="-2274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241280" cy="2781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9"/>
                </a:lnSpc>
              </a:pPr>
              <a:r>
                <a:rPr lang="en-US" sz="20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 (30%) evaluado entre el 9 y el 21 de noviembre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DAHPToG2RXc</dc:identifier>
  <dcterms:modified xsi:type="dcterms:W3CDTF">2011-08-01T06:04:30Z</dcterms:modified>
  <cp:revision>1</cp:revision>
  <dc:title>Presentación del curso.pptx</dc:title>
</cp:coreProperties>
</file>