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56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home/claude/pptx_dax/icon_bean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PARA DECISIONES ESTRATÉGICAS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DAX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al ejercicio de Producción Mundial de Café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718304" y="4892040"/>
            <a:ext cx="274320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914400" y="5074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Pasando del Qué al Por Qué en el modelado de datos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Ilusión de la Simplicidad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2F3F5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SUPERFICIE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4937760" cy="17373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(t)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Brasil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3,000,000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Vietnam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1,830,000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Colombia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858,000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 / x̄ / #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5,688,000 · 1.9M ·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38404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principio, las fórmulas de agregación básicas (SUM, AVERAGE) funcionan igual que en Excel. Todo parece sencillo.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28016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F2F3F5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26364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</a:t>
            </a:r>
            <a:endParaRPr lang="en-US" sz="1600" dirty="0"/>
          </a:p>
        </p:txBody>
      </p:sp>
      <p:pic>
        <p:nvPicPr>
          <p:cNvPr id="10" name="Image 0" descr="/home/claude/pptx_dax/icon_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20240"/>
            <a:ext cx="1463040" cy="1463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36576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surge al introducir la modificación de contexto: ¿la producción de qué país? ¿de qué continente? ¿comparada con qué total?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memorizar funciones, sino entender cómo fluyen las tablas Fact_Produccion y Dim_Region en tiempo real.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562356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No escribas fórmulas complejas sin entender qué sucede bajo el capó.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una Expresión DAX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34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3400" b="1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r>
              <a:rPr lang="en-US" sz="34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Fact_Produccion[Producción]</a:t>
            </a:r>
            <a:r>
              <a:rPr lang="en-US" sz="3400" b="1" dirty="0">
                <a:solidFill>
                  <a:srgbClr val="3A4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4360" y="36393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Inicio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4251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expresión comienza obligatoriamente con el signo igual.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520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37560" y="36393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4251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la función a utilizar. DAX no distingue mayúsculas/minúsculas.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520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080760" y="36393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Argumentos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4251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Encierran los parámetros requeridos por la función.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3520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823960" y="36393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Fact_Produccion[Producción]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y Columna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4251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a la tabla de hechos y su columna, siempre entre corchetes.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3949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5800" y="5394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prácticas:  </a:t>
            </a:r>
            <a:r>
              <a:rPr lang="en-US" sz="13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nombres significativos y coherentes; comenta con // (una línea) o /* */ (varias líneas).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Entorno: Activando Power Pivot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97480" cy="50292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Sistema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5204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Windows (2016+). Revisar en Acerca de Excel si el sistema es de 64 bits (AMD64) o 32 bits (x86).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97480" cy="50292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7889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Excel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5204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al menú: Archivo → Opciones → Complementos.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697480" cy="50292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COM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menú desplegable inferior, seleccionar Complementos COM y presionar Ir.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21031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9235440" y="2103120"/>
            <a:ext cx="2697480" cy="50292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2354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72600" y="27889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72600" y="35204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Microsoft Power Pivot para Excel. Selecciona la tabla Fact_Produccion y haz clic en Agregar al modelo de datos.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1: Columnas Calculadas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home/claude/pptx_dax/icon_tabl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3716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del modelo: nuevas columnas derivadas de fórmulas DAX, calculadas fila por fila sobre Fact_Produccion, sin alterar la fuente original.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377440"/>
            <a:ext cx="11247120" cy="41148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594360" y="2377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06040" y="2359152"/>
            <a:ext cx="9098280" cy="448056"/>
          </a:xfrm>
          <a:prstGeom prst="roundRect">
            <a:avLst>
              <a:gd name="adj" fmla="val 12245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2834640" y="2496312"/>
            <a:ext cx="864108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Producción en Sacos = [Producción] * 1000 / 60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9436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606040" y="2999232"/>
            <a:ext cx="9098280" cy="448056"/>
          </a:xfrm>
          <a:prstGeom prst="roundRect">
            <a:avLst>
              <a:gd name="adj" fmla="val 12245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2834640" y="3136392"/>
            <a:ext cx="864108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País y Región = [País] &amp; " – " &amp; [Región]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594360" y="3657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606040" y="3639312"/>
            <a:ext cx="9098280" cy="448056"/>
          </a:xfrm>
          <a:prstGeom prst="roundRect">
            <a:avLst>
              <a:gd name="adj" fmla="val 12245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2834640" y="3776472"/>
            <a:ext cx="864108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Categoría Productor = IF([Producción] &gt; 500000, "Gran Productor", "Productor Menor")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52628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4EEE9"/>
          </a:solidFill>
          <a:ln w="12700">
            <a:solidFill>
              <a:srgbClr val="2E7D5B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640080" y="4526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Ideales para </a:t>
            </a: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</a:t>
            </a:r>
            <a:r>
              <a:rPr lang="en-US" sz="14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creación de nuevos datos sobre la marcha.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Capó: El Contexto de Fila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un foco de luz.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675120" cy="25146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(t)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Brasil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3,000,000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Vietnam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1,830,000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Colombia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858,000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Indonesia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42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761,000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age 0" descr="/home/claude/pptx_dax/icon_flashligh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4709160"/>
            <a:ext cx="914400" cy="9144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7406640" y="1371600"/>
            <a:ext cx="4297680" cy="4023360"/>
          </a:xfrm>
          <a:prstGeom prst="roundRect">
            <a:avLst>
              <a:gd name="adj" fmla="val 1818"/>
            </a:avLst>
          </a:prstGeom>
          <a:solidFill>
            <a:srgbClr val="F2F3F5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4"/>
          <p:cNvSpPr/>
          <p:nvPr/>
        </p:nvSpPr>
        <p:spPr>
          <a:xfrm>
            <a:off x="7635240" y="16002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"Producción en Sacos" es idéntica en toda la columna. ¿Cómo sabe DAX que debe usar 858,000 en la fila de Colombia?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635240" y="301752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ilumina literalmente esa fila específica. Se evalúa exclusivamente en el entorno de los datos de esa única fila del país.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562356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Calculadas operan bajo el Contexto de Fila.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2: Medidas (Measures)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datos: diseñadas para agregar múltiples filas de Fact_Produccion y devolver un único valor escalar. El formato se define una sola vez.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6675120" cy="777240"/>
          </a:xfrm>
          <a:prstGeom prst="roundRect">
            <a:avLst>
              <a:gd name="adj" fmla="val 705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Producción Total Promedio :=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AVERAGE(Fact_Produccion[Producción])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6675120" cy="2011680"/>
          </a:xfrm>
          <a:prstGeom prst="roundRect">
            <a:avLst>
              <a:gd name="adj" fmla="val 3636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Pro-Tip: Nomenclatura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por métrica base. Nombra tu medida 'Producción Total Promedio' (no 'Promedio Producción Total'). Así, en la lista alfabética, todas las métricas de 'Producción Total' (Máxima, Mínima, Promedio) aparecerán juntas.</a:t>
            </a:r>
            <a:endParaRPr lang="en-US" sz="1300" dirty="0"/>
          </a:p>
        </p:txBody>
      </p:sp>
      <p:pic>
        <p:nvPicPr>
          <p:cNvPr id="10" name="Image 0" descr="/home/claude/pptx_dax/icon_calculato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77440"/>
            <a:ext cx="2560320" cy="2560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Capó: El Contexto de Filtro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externas en acción.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2F3F5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pptx_dax/icon_filt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1031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Segmentador: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las filas de Fact_Produccion pertenecientes a un continente específico.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0" y="3200400"/>
            <a:ext cx="1005840" cy="548640"/>
          </a:xfrm>
          <a:prstGeom prst="rightArrow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5303520" y="182880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4406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Sudamérica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40680" y="2331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4.5M t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303520" y="356616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544068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Asiático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40680" y="4069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2.9M t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8503920" y="182880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868680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Reducción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0" y="242316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primero reduce las filas de Fact_Produccion según el segmentador de continente aplicado.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1841480" y="182880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1202436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Evaluación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024360" y="242316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después de filtrar, aplica la medida a ese grupo específico de países.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539496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Medidas operan bajo el Contexto de Filtro, respondiendo dinámicamente al entorno del reporte.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Creando Tablas con DAX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home/claude/pptx_dax/icon_tabl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3716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columnas y medidas: Modelado → Nueva tabla permite materializar una tabla completamente nueva en el modelo, útil para resúmenes y rankings.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468880"/>
            <a:ext cx="11247120" cy="1554480"/>
          </a:xfrm>
          <a:prstGeom prst="roundRect">
            <a:avLst>
              <a:gd name="adj" fmla="val 352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685800" y="26060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Resumen_Continentes =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SUMMARIZE(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Dim_Region,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Dim_Region[Continente],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"Producción Total", SUM(Fact_Produccion[Producción])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42519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4EEE9"/>
          </a:solidFill>
          <a:ln w="12700">
            <a:solidFill>
              <a:srgbClr val="2E7D5B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85800" y="438912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una medida (valor dinámico, no almacenado) o una columna calculada (una por fila), una tabla calculada crea una tabla nueva y completa dentro del modelo — se recalcula al actualizar los datos, igual que cualquier tabla de Power Query.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2F3F5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685800" y="56235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en clase: </a:t>
            </a:r>
            <a:r>
              <a:rPr lang="en-US" sz="13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Resumen_Continentes y usarla directamente como fuente de un gráfico de barras en Power BI, sin depender de Fact_Produccion.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Síntesis: Matriz de Decisión DAX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4663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Columnas Calculadas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 Calculadas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(Contexto)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de Fila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de Filtro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y/o Filtro según la función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(Output)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valor por cada fila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único valor agregado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tabla nueva y completa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Almacenado en el archivo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 en tiempo de ejecución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Almacenada en el archivo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se actualiza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actualizar la fuente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interactuar o filtrar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actualizar la fuente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Principal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Categorías, segmentadores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Agregación en visuales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4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Resúmenes, rankings, tablas de apoyo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Optimización: ¿DAX o Power Query?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2F3F5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¿Necesitas crear una tabla o columna resumen sobre Fact_Produccion?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3063240"/>
            <a:ext cx="822960" cy="457200"/>
          </a:xfrm>
          <a:prstGeom prst="rightArrow">
            <a:avLst/>
          </a:prstGeom>
          <a:solidFill>
            <a:srgbClr val="D8DB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¿Estás prototipando y no te preocupa el tamaño del archivo?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9319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3891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¿Buscas eficiencia, mejor compresión y tiempos de actualización óptimos?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783080"/>
            <a:ext cx="822960" cy="457200"/>
          </a:xfrm>
          <a:prstGeom prst="rightArrow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905256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4EEE9"/>
          </a:solidFill>
          <a:ln w="12700">
            <a:solidFill>
              <a:srgbClr val="2E7D5B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18972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DAX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(Tabla / Columna Calculada)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8972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ágil.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4343400"/>
            <a:ext cx="822960" cy="457200"/>
          </a:xfrm>
          <a:prstGeom prst="rightArrow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9052560" y="3931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189720" y="4114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8A6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Power Query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8A6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By)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práctica técnica.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8064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resúmenes que solo referencian datos del mismo modelo, migrar la lógica a Power Query es la mejor solución a largo plazo.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Pilares del Modelado de Datos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82654" y="173736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24365C"/>
          </a:solidFill>
          <a:ln w="12700">
            <a:solidFill>
              <a:srgbClr val="3A4E7A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1016668" y="22631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de Fila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81409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Foco de Luz. Calcula paso a paso, país por país. Fundamento de las Columnas Calculadas.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7487" y="173736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24365C"/>
          </a:solidFill>
          <a:ln w="12700">
            <a:solidFill>
              <a:srgbClr val="3A4E7A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6583680" y="22631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de Filtro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58368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Reducción. Responde dinámicamente al continente o país seleccionado. Fundamento de las Medidas.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11C33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914400" y="51663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 DAX no reside en memorizar cientos de funciones, sino en comprender la arquitectura invisible que dicta cómo interactúan Fact_Produccion y Dim_Region. Domina el contexto, y dominarás el motor.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· Producción Mundial de Café  — 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1231</Words>
  <Application>Microsoft Office PowerPoint</Application>
  <PresentationFormat>Personalizado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Lina Maria Sepulveda Cano</cp:lastModifiedBy>
  <cp:revision>2</cp:revision>
  <dcterms:created xsi:type="dcterms:W3CDTF">2026-07-21T14:09:02Z</dcterms:created>
  <dcterms:modified xsi:type="dcterms:W3CDTF">2026-07-21T15:19:28Z</dcterms:modified>
</cp:coreProperties>
</file>